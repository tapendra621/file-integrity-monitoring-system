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64" r:id="rId2"/>
    <p:sldId id="306" r:id="rId3"/>
    <p:sldId id="301" r:id="rId4"/>
    <p:sldId id="308" r:id="rId5"/>
    <p:sldId id="309" r:id="rId6"/>
    <p:sldId id="302" r:id="rId7"/>
    <p:sldId id="310" r:id="rId8"/>
    <p:sldId id="298" r:id="rId9"/>
    <p:sldId id="299" r:id="rId10"/>
    <p:sldId id="300" r:id="rId11"/>
    <p:sldId id="292" r:id="rId12"/>
    <p:sldId id="307" r:id="rId13"/>
    <p:sldId id="296" r:id="rId14"/>
    <p:sldId id="304" r:id="rId15"/>
    <p:sldId id="305" r:id="rId16"/>
    <p:sldId id="311" r:id="rId17"/>
    <p:sldId id="312" r:id="rId18"/>
    <p:sldId id="313" r:id="rId19"/>
    <p:sldId id="29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1820"/>
    <a:srgbClr val="232D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4" autoAdjust="0"/>
    <p:restoredTop sz="82315" autoAdjust="0"/>
  </p:normalViewPr>
  <p:slideViewPr>
    <p:cSldViewPr snapToGrid="0">
      <p:cViewPr varScale="1">
        <p:scale>
          <a:sx n="99" d="100"/>
          <a:sy n="99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94FEF-79C7-422E-A922-ACD1692B101B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DF485-1498-41DC-9C66-C452E1824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26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67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44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80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65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16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64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3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44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98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59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30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42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1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22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000000"/>
              </a:solidFill>
              <a:effectLst/>
              <a:latin typeface="Cisc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07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000000"/>
              </a:solidFill>
              <a:effectLst/>
              <a:latin typeface="Cisc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92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000000"/>
              </a:solidFill>
              <a:effectLst/>
              <a:latin typeface="Cisc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09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000000"/>
              </a:solidFill>
              <a:effectLst/>
              <a:latin typeface="Cisc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72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DF485-1498-41DC-9C66-C452E1824E6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98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A2D2-6391-4BAB-9928-083511536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59087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639FD-1E9E-477A-8F95-D927DC346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7174"/>
            <a:ext cx="9144000" cy="1190625"/>
          </a:xfrm>
        </p:spPr>
        <p:txBody>
          <a:bodyPr anchor="ctr"/>
          <a:lstStyle>
            <a:lvl1pPr marL="0" indent="0" algn="ctr"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Picture 4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A7410BE6-6051-4AFE-AFF4-7999E7C01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8600"/>
            <a:ext cx="645622" cy="53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FD17-469E-4118-ADD9-06E1099FE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C36284E-61B8-4122-AC1E-B572CA972CA2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EAAF1BC-6013-400C-9DAD-E7AF9B1E5259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5B752B5-CA32-4586-87B7-D395212F9B0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1A83CF9-4AC0-4B22-9BF9-06F35110AF4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4F9D62-346B-4C18-9220-CB0440DCB0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73" y="1558155"/>
            <a:ext cx="4723448" cy="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4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C907-33B4-46EC-AAC4-6F658682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B1A6-0C8E-4105-964F-1C328EE8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77BD9-197B-4D7A-929C-6E3906225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B52B5-3CDE-45DC-9AA6-8BD30958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CE9D-C756-4BC7-BD1D-11A77B907C5B}" type="datetime4">
              <a:rPr lang="en-US" smtClean="0"/>
              <a:t>January 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AF136-63B3-4D75-81E7-306359B3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E3160-1A5B-40FF-95F9-F31E1A94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CD728-7C25-4072-A556-DBFBB2F97ABB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03C550-4AAA-433F-ABFC-4FBE78E983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73" y="1558155"/>
            <a:ext cx="4723448" cy="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9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79E9-C129-4971-BC48-5F382D7A0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75D42-7564-4395-98BF-D079B6BC6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97EC2-2354-477D-81D5-543850558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FA876-B639-4A8D-A36D-7DCA779F1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EF7B0-D3D0-42B6-81CF-5757F4D35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615A3-E928-4C1D-ABA2-3B9001CC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B81F0-2FC8-40C3-A993-75895294BE2B}" type="datetime4">
              <a:rPr lang="en-US" smtClean="0"/>
              <a:t>January 7,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E4AD8-E42C-4977-A4C4-B55A99ABC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CB9334-4219-408C-BDAC-398C81AED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CD728-7C25-4072-A556-DBFBB2F97ABB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2D76B9-EE34-40B9-8A5B-1784B0F1D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73" y="1618601"/>
            <a:ext cx="4723448" cy="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0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9FF3-783A-416D-9AFB-5F4E510B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4A02F-F19E-41CF-9DA4-C1210B9B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C5F2E-E249-4049-BBCE-797F4EFE68B0}" type="datetime4">
              <a:rPr lang="en-US" smtClean="0"/>
              <a:t>January 7,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3A5FE-2FA6-44C4-9A46-09AE09363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76CBF-F67B-4046-A493-6840DF9F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CD728-7C25-4072-A556-DBFBB2F97ABB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BA7E3D-9AEB-4048-B541-650EFEB62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73" y="1558155"/>
            <a:ext cx="4723448" cy="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0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4E404-D328-47EE-9B00-8AA3FABB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B3B5-B5E7-45A8-AA3C-CDAF149D448F}" type="datetime4">
              <a:rPr lang="en-US" smtClean="0"/>
              <a:t>January 7,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F642B-A5ED-4DE9-9A81-CCB20097D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624F3-FD99-4B11-95C7-E4E5D2C5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CD728-7C25-4072-A556-DBFBB2F97ABB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D2658E-508B-4B06-B686-DEF37D5AFC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73" y="1558155"/>
            <a:ext cx="4723448" cy="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5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Main Background Stripes" descr="A picture containing street, person, riding, lamp&#10;&#10;Description automatically generated">
            <a:extLst>
              <a:ext uri="{FF2B5EF4-FFF2-40B4-BE49-F238E27FC236}">
                <a16:creationId xmlns:a16="http://schemas.microsoft.com/office/drawing/2014/main" id="{15DF2449-310B-43C0-AA27-1EE3150895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1714"/>
            <a:ext cx="12188952" cy="685628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FDE1C5E-2D11-4E4C-A035-C81BD21BF2BD}"/>
              </a:ext>
            </a:extLst>
          </p:cNvPr>
          <p:cNvSpPr/>
          <p:nvPr userDrawn="1"/>
        </p:nvSpPr>
        <p:spPr>
          <a:xfrm>
            <a:off x="-82210" y="-1714"/>
            <a:ext cx="12103694" cy="685971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7000">
                <a:schemeClr val="bg1">
                  <a:alpha val="10000"/>
                </a:schemeClr>
              </a:gs>
              <a:gs pos="80000">
                <a:schemeClr val="bg1">
                  <a:alpha val="85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CB8604-4AFF-4F0D-AB12-85D96567A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6D771-5FD7-49C1-8720-9AB6766E9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205" y="1727383"/>
            <a:ext cx="11175595" cy="4492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70B47-8451-48EF-A92D-BFFD0A40C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55017" y="6366984"/>
            <a:ext cx="1342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C8EB5-4361-4276-9F0D-EF7BB7FFF324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7D184-CB70-402F-849C-31C167A99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0317" y="6356350"/>
            <a:ext cx="57319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E6632-8711-439A-9AD4-9C69CB290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8000" y="6356350"/>
            <a:ext cx="685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|   </a:t>
            </a:r>
            <a:fld id="{22ACD728-7C25-4072-A556-DBFBB2F97AB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5C874A-C389-4997-BA68-DED38AFCCC4C}"/>
              </a:ext>
            </a:extLst>
          </p:cNvPr>
          <p:cNvGrpSpPr/>
          <p:nvPr userDrawn="1"/>
        </p:nvGrpSpPr>
        <p:grpSpPr>
          <a:xfrm>
            <a:off x="12021484" y="-1714"/>
            <a:ext cx="167468" cy="6858000"/>
            <a:chOff x="12021484" y="-1714"/>
            <a:chExt cx="167468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30C38C2-457F-493C-8AE6-3C8A20F341C1}"/>
                </a:ext>
              </a:extLst>
            </p:cNvPr>
            <p:cNvSpPr/>
            <p:nvPr userDrawn="1"/>
          </p:nvSpPr>
          <p:spPr>
            <a:xfrm>
              <a:off x="12106742" y="-1714"/>
              <a:ext cx="82210" cy="6858000"/>
            </a:xfrm>
            <a:prstGeom prst="rect">
              <a:avLst/>
            </a:prstGeom>
            <a:solidFill>
              <a:srgbClr val="232D82"/>
            </a:solidFill>
            <a:ln>
              <a:solidFill>
                <a:srgbClr val="232D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397171-31CB-4C84-87E6-2B302AFD8D8B}"/>
                </a:ext>
              </a:extLst>
            </p:cNvPr>
            <p:cNvSpPr/>
            <p:nvPr userDrawn="1"/>
          </p:nvSpPr>
          <p:spPr>
            <a:xfrm>
              <a:off x="12021484" y="-1714"/>
              <a:ext cx="82210" cy="6858000"/>
            </a:xfrm>
            <a:prstGeom prst="rect">
              <a:avLst/>
            </a:prstGeom>
            <a:solidFill>
              <a:srgbClr val="DA1820"/>
            </a:solidFill>
            <a:ln>
              <a:solidFill>
                <a:srgbClr val="DA18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Picture 21" descr="A picture containing drawing&#10;&#10;Description automatically generated">
            <a:extLst>
              <a:ext uri="{FF2B5EF4-FFF2-40B4-BE49-F238E27FC236}">
                <a16:creationId xmlns:a16="http://schemas.microsoft.com/office/drawing/2014/main" id="{5A125339-68CB-4ED5-8F65-BCC22B56B8A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64" y="6341526"/>
            <a:ext cx="464545" cy="456971"/>
          </a:xfrm>
          <a:prstGeom prst="rect">
            <a:avLst/>
          </a:prstGeom>
        </p:spPr>
      </p:pic>
      <p:pic>
        <p:nvPicPr>
          <p:cNvPr id="24" name="Picture 23" descr="A picture containing drawing&#10;&#10;Description automatically generated">
            <a:extLst>
              <a:ext uri="{FF2B5EF4-FFF2-40B4-BE49-F238E27FC236}">
                <a16:creationId xmlns:a16="http://schemas.microsoft.com/office/drawing/2014/main" id="{48576928-50DB-406D-A473-92B75A4663E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25" y="6326116"/>
            <a:ext cx="1152377" cy="335187"/>
          </a:xfrm>
          <a:prstGeom prst="rect">
            <a:avLst/>
          </a:prstGeom>
        </p:spPr>
      </p:pic>
      <p:pic>
        <p:nvPicPr>
          <p:cNvPr id="26" name="Picture 25" descr="A close up of a sign&#10;&#10;Description automatically generated">
            <a:extLst>
              <a:ext uri="{FF2B5EF4-FFF2-40B4-BE49-F238E27FC236}">
                <a16:creationId xmlns:a16="http://schemas.microsoft.com/office/drawing/2014/main" id="{7C2C4DC6-3C70-473B-BA77-2A76E65D8AD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101" y="6341526"/>
            <a:ext cx="867700" cy="35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4248" userDrawn="1">
          <p15:clr>
            <a:srgbClr val="F26B43"/>
          </p15:clr>
        </p15:guide>
        <p15:guide id="4" pos="72" userDrawn="1">
          <p15:clr>
            <a:srgbClr val="F26B43"/>
          </p15:clr>
        </p15:guide>
        <p15:guide id="5" pos="96" userDrawn="1">
          <p15:clr>
            <a:srgbClr val="F26B43"/>
          </p15:clr>
        </p15:guide>
        <p15:guide id="6" orient="horz" pos="144" userDrawn="1">
          <p15:clr>
            <a:srgbClr val="F26B43"/>
          </p15:clr>
        </p15:guide>
        <p15:guide id="7" orient="horz" pos="1008" userDrawn="1">
          <p15:clr>
            <a:srgbClr val="F26B43"/>
          </p15:clr>
        </p15:guide>
        <p15:guide id="8" orient="horz" pos="1080" userDrawn="1">
          <p15:clr>
            <a:srgbClr val="F26B43"/>
          </p15:clr>
        </p15:guide>
        <p15:guide id="9" orient="horz" pos="3912" userDrawn="1">
          <p15:clr>
            <a:srgbClr val="F26B43"/>
          </p15:clr>
        </p15:guide>
        <p15:guide id="10" pos="6720" userDrawn="1">
          <p15:clr>
            <a:srgbClr val="F26B43"/>
          </p15:clr>
        </p15:guide>
        <p15:guide id="11" pos="6624" userDrawn="1">
          <p15:clr>
            <a:srgbClr val="F26B43"/>
          </p15:clr>
        </p15:guide>
        <p15:guide id="12" pos="5904" userDrawn="1">
          <p15:clr>
            <a:srgbClr val="F26B43"/>
          </p15:clr>
        </p15:guide>
        <p15:guide id="13" orient="horz" pos="3984" userDrawn="1">
          <p15:clr>
            <a:srgbClr val="F26B43"/>
          </p15:clr>
        </p15:guide>
        <p15:guide id="14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633E-99AF-491C-8E40-A8B3A79D2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369" y="1122362"/>
            <a:ext cx="9955369" cy="28590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Module 12: Revision</a:t>
            </a: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C71C9088-045E-419E-8CDD-B227C2309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833464"/>
            <a:ext cx="8985161" cy="902174"/>
          </a:xfrm>
        </p:spPr>
        <p:txBody>
          <a:bodyPr>
            <a:normAutofit/>
          </a:bodyPr>
          <a:lstStyle/>
          <a:p>
            <a:r>
              <a:rPr lang="en-US" dirty="0"/>
              <a:t>Enterprise Networking, Security, and Automation v7.0 (ENSA)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98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ED3179-FB4F-448C-B43F-C1C18C08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B3BF-63BC-4CEB-A425-56A8F9E6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649C-63D9-430F-8908-DD798748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EF81-ED0F-4A36-BF2C-D628A219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0EDAC-E011-B3F0-50B4-F3B647B953CC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10A0BF-DFBF-FABF-4BD3-0B533B7CDF6C}"/>
              </a:ext>
            </a:extLst>
          </p:cNvPr>
          <p:cNvSpPr/>
          <p:nvPr/>
        </p:nvSpPr>
        <p:spPr>
          <a:xfrm>
            <a:off x="8913092" y="1406983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041DA-ADD3-7EEB-B437-E51F3119A4CC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37183B-E72D-75B1-B8B0-96FA9CEE8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4" y="1719233"/>
            <a:ext cx="7991642" cy="4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9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Shortest Path First (OSPF)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1651685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B3C6A-A3D6-39F0-68E1-753061C7A347}"/>
              </a:ext>
            </a:extLst>
          </p:cNvPr>
          <p:cNvSpPr txBox="1"/>
          <p:nvPr/>
        </p:nvSpPr>
        <p:spPr>
          <a:xfrm>
            <a:off x="173564" y="1771757"/>
            <a:ext cx="84009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Open Source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Link-state Routing Protocol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Interior Gateway Protocol</a:t>
            </a:r>
          </a:p>
        </p:txBody>
      </p:sp>
    </p:spTree>
    <p:extLst>
      <p:ext uri="{BB962C8B-B14F-4D97-AF65-F5344CB8AC3E}">
        <p14:creationId xmlns:p14="http://schemas.microsoft.com/office/powerpoint/2010/main" val="156989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 Neighbor Adjacencies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1870626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6CB7F4B-D86A-695E-68D2-E31B4D8BC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3700" y="1790731"/>
            <a:ext cx="6274277" cy="4351338"/>
          </a:xfrm>
        </p:spPr>
      </p:pic>
    </p:spTree>
    <p:extLst>
      <p:ext uri="{BB962C8B-B14F-4D97-AF65-F5344CB8AC3E}">
        <p14:creationId xmlns:p14="http://schemas.microsoft.com/office/powerpoint/2010/main" val="427314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Link-State Advertisements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2089570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4A2EDF1-23B1-2563-D953-E6B920DEC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2303" y="1790731"/>
            <a:ext cx="6260103" cy="4351338"/>
          </a:xfrm>
        </p:spPr>
      </p:pic>
    </p:spTree>
    <p:extLst>
      <p:ext uri="{BB962C8B-B14F-4D97-AF65-F5344CB8AC3E}">
        <p14:creationId xmlns:p14="http://schemas.microsoft.com/office/powerpoint/2010/main" val="339705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Link State Database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2308512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C0224349-F997-1E71-ADEB-67BCC7AE1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46176" y="1827339"/>
            <a:ext cx="6486667" cy="4351338"/>
          </a:xfrm>
        </p:spPr>
      </p:pic>
    </p:spTree>
    <p:extLst>
      <p:ext uri="{BB962C8B-B14F-4D97-AF65-F5344CB8AC3E}">
        <p14:creationId xmlns:p14="http://schemas.microsoft.com/office/powerpoint/2010/main" val="7618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64" y="250888"/>
            <a:ext cx="8831891" cy="1325563"/>
          </a:xfrm>
        </p:spPr>
        <p:txBody>
          <a:bodyPr/>
          <a:lstStyle/>
          <a:p>
            <a:r>
              <a:rPr lang="en-US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Execute the SPF Algorithm</a:t>
            </a:r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2527453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5D8062C1-4F28-C329-E840-108A7C6F7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2522" y="1790731"/>
            <a:ext cx="5009249" cy="4351338"/>
          </a:xfrm>
        </p:spPr>
      </p:pic>
    </p:spTree>
    <p:extLst>
      <p:ext uri="{BB962C8B-B14F-4D97-AF65-F5344CB8AC3E}">
        <p14:creationId xmlns:p14="http://schemas.microsoft.com/office/powerpoint/2010/main" val="57941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ED3179-FB4F-448C-B43F-C1C18C08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64" y="250888"/>
            <a:ext cx="8831891" cy="1325563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Choose the Best Route</a:t>
            </a:r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B3BF-63BC-4CEB-A425-56A8F9E6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649C-63D9-430F-8908-DD798748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EF81-ED0F-4A36-BF2C-D628A219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0EDAC-E011-B3F0-50B4-F3B647B953CC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10A0BF-DFBF-FABF-4BD3-0B533B7CDF6C}"/>
              </a:ext>
            </a:extLst>
          </p:cNvPr>
          <p:cNvSpPr/>
          <p:nvPr/>
        </p:nvSpPr>
        <p:spPr>
          <a:xfrm>
            <a:off x="8913092" y="2759268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041DA-ADD3-7EEB-B437-E51F3119A4CC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1BF469AA-C54B-7A78-1400-6527C50B9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6063" y="1644033"/>
            <a:ext cx="4685716" cy="4576464"/>
          </a:xfrm>
        </p:spPr>
      </p:pic>
    </p:spTree>
    <p:extLst>
      <p:ext uri="{BB962C8B-B14F-4D97-AF65-F5344CB8AC3E}">
        <p14:creationId xmlns:p14="http://schemas.microsoft.com/office/powerpoint/2010/main" val="295742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ED3179-FB4F-448C-B43F-C1C18C08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OSPF Reference Topology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B3BF-63BC-4CEB-A425-56A8F9E6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649C-63D9-430F-8908-DD798748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EF81-ED0F-4A36-BF2C-D628A219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0EDAC-E011-B3F0-50B4-F3B647B953CC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10A0BF-DFBF-FABF-4BD3-0B533B7CDF6C}"/>
              </a:ext>
            </a:extLst>
          </p:cNvPr>
          <p:cNvSpPr/>
          <p:nvPr/>
        </p:nvSpPr>
        <p:spPr>
          <a:xfrm>
            <a:off x="8913092" y="2978212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041DA-ADD3-7EEB-B437-E51F3119A4CC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E5DF1281-4FA0-DCC8-513F-466821FF7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611" y="1827339"/>
            <a:ext cx="7430647" cy="42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5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ED3179-FB4F-448C-B43F-C1C18C08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Router ID Order of Precedence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B3BF-63BC-4CEB-A425-56A8F9E6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649C-63D9-430F-8908-DD798748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EF81-ED0F-4A36-BF2C-D628A219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0EDAC-E011-B3F0-50B4-F3B647B953CC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10A0BF-DFBF-FABF-4BD3-0B533B7CDF6C}"/>
              </a:ext>
            </a:extLst>
          </p:cNvPr>
          <p:cNvSpPr/>
          <p:nvPr/>
        </p:nvSpPr>
        <p:spPr>
          <a:xfrm>
            <a:off x="8913092" y="3184275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041DA-ADD3-7EEB-B437-E51F3119A4CC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078948-FEC9-2C1C-AAF4-BACA65B0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804" y="1704971"/>
            <a:ext cx="5953412" cy="4522859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17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 (Access Control 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3403213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13" name="Content Placeholder 4" descr="Chart, funnel chart&#10;&#10;Description automatically generated">
            <a:extLst>
              <a:ext uri="{FF2B5EF4-FFF2-40B4-BE49-F238E27FC236}">
                <a16:creationId xmlns:a16="http://schemas.microsoft.com/office/drawing/2014/main" id="{E341440D-11B6-E433-D94A-B99A11A4C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161" y="1827339"/>
            <a:ext cx="4813971" cy="424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7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Wildcard Mask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3635035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7" name="Picture 2" descr="Subnet Mask - Wildcard Mask Calculator Online">
            <a:extLst>
              <a:ext uri="{FF2B5EF4-FFF2-40B4-BE49-F238E27FC236}">
                <a16:creationId xmlns:a16="http://schemas.microsoft.com/office/drawing/2014/main" id="{5D8D6E0F-A881-120C-A924-CCB4A258ED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85461" y="1656726"/>
            <a:ext cx="5408098" cy="448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83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ED3179-FB4F-448C-B43F-C1C18C08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64" y="250888"/>
            <a:ext cx="8739528" cy="1325563"/>
          </a:xfrm>
        </p:spPr>
        <p:txBody>
          <a:bodyPr>
            <a:normAutofit/>
          </a:bodyPr>
          <a:lstStyle/>
          <a:p>
            <a:r>
              <a:rPr lang="en-US" dirty="0"/>
              <a:t>Where to Place ACLs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B3BF-63BC-4CEB-A425-56A8F9E6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649C-63D9-430F-8908-DD798748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EF81-ED0F-4A36-BF2C-D628A219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0EDAC-E011-B3F0-50B4-F3B647B953CC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10A0BF-DFBF-FABF-4BD3-0B533B7CDF6C}"/>
              </a:ext>
            </a:extLst>
          </p:cNvPr>
          <p:cNvSpPr/>
          <p:nvPr/>
        </p:nvSpPr>
        <p:spPr>
          <a:xfrm>
            <a:off x="8913092" y="3853977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041DA-ADD3-7EEB-B437-E51F3119A4CC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AAEADE-D6EC-E28E-0CD3-CFB07675A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510" y="2017340"/>
            <a:ext cx="6277456" cy="4298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BDB49D-231C-D306-B520-C478DC00B076}"/>
              </a:ext>
            </a:extLst>
          </p:cNvPr>
          <p:cNvSpPr txBox="1"/>
          <p:nvPr/>
        </p:nvSpPr>
        <p:spPr>
          <a:xfrm>
            <a:off x="187838" y="1598657"/>
            <a:ext cx="61454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SDES (Standard Destination Extended Source)</a:t>
            </a:r>
          </a:p>
        </p:txBody>
      </p:sp>
    </p:spTree>
    <p:extLst>
      <p:ext uri="{BB962C8B-B14F-4D97-AF65-F5344CB8AC3E}">
        <p14:creationId xmlns:p14="http://schemas.microsoft.com/office/powerpoint/2010/main" val="35735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(Network Address Translation)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4085793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Picture 2" descr="Network Address Translation (NAT) - GeeksforGeeks">
            <a:extLst>
              <a:ext uri="{FF2B5EF4-FFF2-40B4-BE49-F238E27FC236}">
                <a16:creationId xmlns:a16="http://schemas.microsoft.com/office/drawing/2014/main" id="{E6DAD0FD-B698-866D-7F05-BE535FB6D1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673" y="2103283"/>
            <a:ext cx="8646837" cy="239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33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NAT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4304734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C837CE16-A218-BA53-B7C5-4D75A18F2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827339"/>
            <a:ext cx="8815336" cy="4279739"/>
          </a:xfrm>
        </p:spPr>
      </p:pic>
    </p:spTree>
    <p:extLst>
      <p:ext uri="{BB962C8B-B14F-4D97-AF65-F5344CB8AC3E}">
        <p14:creationId xmlns:p14="http://schemas.microsoft.com/office/powerpoint/2010/main" val="92186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Dynamic NAT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4510800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946ECA-35A1-3198-5604-4D4F2A466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9072"/>
            <a:ext cx="8872146" cy="41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63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4742618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7" name="Content Placeholder 4" descr="Timeline&#10;&#10;Description automatically generated">
            <a:extLst>
              <a:ext uri="{FF2B5EF4-FFF2-40B4-BE49-F238E27FC236}">
                <a16:creationId xmlns:a16="http://schemas.microsoft.com/office/drawing/2014/main" id="{D6C1D843-1A69-6FE8-0A15-2ED178788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1719072"/>
            <a:ext cx="8875645" cy="39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79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33F8A-234F-425A-ABEA-F45DA62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3DEE3-34A6-4848-8496-D9E174FE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D003-AF45-4E26-8CDC-55C9E1A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5E42C-A152-488D-BB90-A8CEDF2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259D-18DB-24CE-0426-ABD3DE15959A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8CF981-35C1-543E-F89D-7F823F326BBA}"/>
              </a:ext>
            </a:extLst>
          </p:cNvPr>
          <p:cNvSpPr/>
          <p:nvPr/>
        </p:nvSpPr>
        <p:spPr>
          <a:xfrm>
            <a:off x="8913092" y="4948679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A8F9A-8349-4553-F066-81A99CD717D4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0A19BB48-DA34-0BC8-5122-FFF0CEF1E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690064"/>
            <a:ext cx="8814816" cy="4396597"/>
          </a:xfrm>
        </p:spPr>
      </p:pic>
    </p:spTree>
    <p:extLst>
      <p:ext uri="{BB962C8B-B14F-4D97-AF65-F5344CB8AC3E}">
        <p14:creationId xmlns:p14="http://schemas.microsoft.com/office/powerpoint/2010/main" val="404343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AF179E-316E-48F4-A478-9E6662A0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87CD0-EFB4-4D54-A4D7-1BFD5E45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4463-45F7-4598-82D1-5C279F8D9E82}" type="datetime4">
              <a:rPr lang="en-US" smtClean="0"/>
              <a:t>January 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D3741-8431-49CE-98CA-BA3F3598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Networking, Security, and Automation v7.0 (ENSA)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8A269-1128-4B80-B53A-E1C18666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</a:t>
            </a:r>
            <a:fld id="{22ACD728-7C25-4072-A556-DBFBB2F97AB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9A1817-4C5E-1FA9-0944-7BBE91BA5339}"/>
              </a:ext>
            </a:extLst>
          </p:cNvPr>
          <p:cNvSpPr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B8D157-BFB7-B058-B865-3FB4FA423148}"/>
              </a:ext>
            </a:extLst>
          </p:cNvPr>
          <p:cNvSpPr/>
          <p:nvPr/>
        </p:nvSpPr>
        <p:spPr>
          <a:xfrm>
            <a:off x="8913092" y="518050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2FD9EE-FE96-796D-6BE3-76641EDABC08}"/>
              </a:ext>
            </a:extLst>
          </p:cNvPr>
          <p:cNvSpPr txBox="1"/>
          <p:nvPr/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Recap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Open Shortest Path First (OSPF)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2.1 Establish Neighbor Adjacencies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2.2 Exchange Link-State Advertisements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2.3 Build the Link State Database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2.4 Execute the SPF Algorithm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2.5 Choose the Best Route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2.6 OSPF Reference Topology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2.7 Router ID Order of Precedence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3. ACL (Access Control List)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3.1 Wildcard Mask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3.2 Where to Place ACLs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4. NAT (Network Address Translation)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4.1 Static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4.2 Dynamic NAT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4.3 PAT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    4.4 PAT Interface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bg1"/>
                </a:solidFill>
                <a:latin typeface="Abadi MT Condensed Light" panose="020B0306030101010103" pitchFamily="34" charset="77"/>
                <a:cs typeface="Arial Narrow" panose="020B0604020202020204" pitchFamily="34" charset="0"/>
              </a:rPr>
              <a:t>5.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3D36C-9582-0F49-80BE-3F26F5A73AA0}"/>
              </a:ext>
            </a:extLst>
          </p:cNvPr>
          <p:cNvSpPr txBox="1"/>
          <p:nvPr/>
        </p:nvSpPr>
        <p:spPr>
          <a:xfrm>
            <a:off x="0" y="1658076"/>
            <a:ext cx="4739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of OSPF, ACL and NAT.</a:t>
            </a:r>
          </a:p>
        </p:txBody>
      </p:sp>
    </p:spTree>
    <p:extLst>
      <p:ext uri="{BB962C8B-B14F-4D97-AF65-F5344CB8AC3E}">
        <p14:creationId xmlns:p14="http://schemas.microsoft.com/office/powerpoint/2010/main" val="107757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35895</TotalTime>
  <Words>2044</Words>
  <Application>Microsoft Macintosh PowerPoint</Application>
  <PresentationFormat>Widescreen</PresentationFormat>
  <Paragraphs>422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Abadi MT Condensed Light</vt:lpstr>
      <vt:lpstr>Arial</vt:lpstr>
      <vt:lpstr>Calibri</vt:lpstr>
      <vt:lpstr>Calibri Light</vt:lpstr>
      <vt:lpstr>Cisco Sans</vt:lpstr>
      <vt:lpstr>Times New Roman</vt:lpstr>
      <vt:lpstr>Office Theme</vt:lpstr>
      <vt:lpstr>Module 12: Revision</vt:lpstr>
      <vt:lpstr>Recap</vt:lpstr>
      <vt:lpstr>Open Shortest Path First (OSPF)</vt:lpstr>
      <vt:lpstr>Establish Neighbor Adjacencies</vt:lpstr>
      <vt:lpstr>Exchange Link-State Advertisements</vt:lpstr>
      <vt:lpstr>Build the Link State Database</vt:lpstr>
      <vt:lpstr>Execute the SPF Algorithm</vt:lpstr>
      <vt:lpstr>Choose the Best Route</vt:lpstr>
      <vt:lpstr>OSPF Reference Topology</vt:lpstr>
      <vt:lpstr>Router ID Order of Precedence</vt:lpstr>
      <vt:lpstr>ACL (Access Control List)</vt:lpstr>
      <vt:lpstr>Wildcard Mask</vt:lpstr>
      <vt:lpstr>Where to Place ACLs</vt:lpstr>
      <vt:lpstr>NAT (Network Address Translation)</vt:lpstr>
      <vt:lpstr>Static NAT</vt:lpstr>
      <vt:lpstr>Dynamic NAT</vt:lpstr>
      <vt:lpstr>PAT</vt:lpstr>
      <vt:lpstr>PAT Interface</vt:lpstr>
      <vt:lpstr>Summary</vt:lpstr>
    </vt:vector>
  </TitlesOfParts>
  <Company>Islington Colelge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All Modules</dc:subject>
  <dc:creator>Akchayat Bikram Joshi</dc:creator>
  <cp:lastModifiedBy>Nitika Rai</cp:lastModifiedBy>
  <cp:revision>91</cp:revision>
  <dcterms:created xsi:type="dcterms:W3CDTF">2020-07-29T02:48:43Z</dcterms:created>
  <dcterms:modified xsi:type="dcterms:W3CDTF">2026-01-07T15:33:45Z</dcterms:modified>
  <cp:category>Lecture, Tutorial and Workshop Template</cp:category>
</cp:coreProperties>
</file>