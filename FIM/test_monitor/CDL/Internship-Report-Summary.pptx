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Open Sans" panose="020B0606030504020204" pitchFamily="3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38" d="100"/>
          <a:sy n="38" d="100"/>
        </p:scale>
        <p:origin x="1452" y="8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38247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txBody>
          <a:bodyPr/>
          <a:lstStyle/>
          <a:p>
            <a:endParaRPr lang="en-US"/>
          </a:p>
        </p:txBody>
      </p:sp>
      <p:sp>
        <p:nvSpPr>
          <p:cNvPr id="3" name="Shape 1"/>
          <p:cNvSpPr/>
          <p:nvPr/>
        </p:nvSpPr>
        <p:spPr>
          <a:xfrm>
            <a:off x="0" y="0"/>
            <a:ext cx="14630400" cy="8229600"/>
          </a:xfrm>
          <a:prstGeom prst="rect">
            <a:avLst/>
          </a:prstGeom>
          <a:solidFill>
            <a:srgbClr val="F3F3F7"/>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txBody>
          <a:bodyPr/>
          <a:lstStyle/>
          <a:p>
            <a:endParaRPr lang="en-US"/>
          </a:p>
        </p:txBody>
      </p:sp>
      <p:sp>
        <p:nvSpPr>
          <p:cNvPr id="3" name="Shape 1"/>
          <p:cNvSpPr/>
          <p:nvPr/>
        </p:nvSpPr>
        <p:spPr>
          <a:xfrm>
            <a:off x="0" y="0"/>
            <a:ext cx="14630400" cy="8229600"/>
          </a:xfrm>
          <a:prstGeom prst="rect">
            <a:avLst/>
          </a:prstGeom>
          <a:solidFill>
            <a:srgbClr val="F3F3F7"/>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txBody>
          <a:bodyPr/>
          <a:lstStyle/>
          <a:p>
            <a:endParaRPr lang="en-US"/>
          </a:p>
        </p:txBody>
      </p:sp>
      <p:sp>
        <p:nvSpPr>
          <p:cNvPr id="3" name="Shape 1"/>
          <p:cNvSpPr/>
          <p:nvPr/>
        </p:nvSpPr>
        <p:spPr>
          <a:xfrm>
            <a:off x="0" y="0"/>
            <a:ext cx="14630400" cy="8229600"/>
          </a:xfrm>
          <a:prstGeom prst="rect">
            <a:avLst/>
          </a:prstGeom>
          <a:solidFill>
            <a:srgbClr val="F3F3F7"/>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txBody>
          <a:bodyPr/>
          <a:lstStyle/>
          <a:p>
            <a:endParaRPr lang="en-US"/>
          </a:p>
        </p:txBody>
      </p:sp>
      <p:sp>
        <p:nvSpPr>
          <p:cNvPr id="3" name="Shape 1"/>
          <p:cNvSpPr/>
          <p:nvPr/>
        </p:nvSpPr>
        <p:spPr>
          <a:xfrm>
            <a:off x="0" y="0"/>
            <a:ext cx="14630400" cy="8229600"/>
          </a:xfrm>
          <a:prstGeom prst="rect">
            <a:avLst/>
          </a:prstGeom>
          <a:solidFill>
            <a:srgbClr val="F3F3F7"/>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txBody>
          <a:bodyPr/>
          <a:lstStyle/>
          <a:p>
            <a:endParaRPr lang="en-US"/>
          </a:p>
        </p:txBody>
      </p:sp>
      <p:sp>
        <p:nvSpPr>
          <p:cNvPr id="3" name="Shape 1"/>
          <p:cNvSpPr/>
          <p:nvPr/>
        </p:nvSpPr>
        <p:spPr>
          <a:xfrm>
            <a:off x="0" y="0"/>
            <a:ext cx="14630400" cy="8229600"/>
          </a:xfrm>
          <a:prstGeom prst="rect">
            <a:avLst/>
          </a:prstGeom>
          <a:solidFill>
            <a:srgbClr val="F3F3F7"/>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txBody>
          <a:bodyPr/>
          <a:lstStyle/>
          <a:p>
            <a:endParaRPr lang="en-US"/>
          </a:p>
        </p:txBody>
      </p:sp>
      <p:sp>
        <p:nvSpPr>
          <p:cNvPr id="3" name="Shape 1"/>
          <p:cNvSpPr/>
          <p:nvPr/>
        </p:nvSpPr>
        <p:spPr>
          <a:xfrm>
            <a:off x="0" y="0"/>
            <a:ext cx="14630400" cy="8229600"/>
          </a:xfrm>
          <a:prstGeom prst="rect">
            <a:avLst/>
          </a:prstGeom>
          <a:solidFill>
            <a:srgbClr val="F3F3F7"/>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txBody>
          <a:bodyPr/>
          <a:lstStyle/>
          <a:p>
            <a:endParaRPr lang="en-US"/>
          </a:p>
        </p:txBody>
      </p:sp>
      <p:sp>
        <p:nvSpPr>
          <p:cNvPr id="3" name="Shape 1"/>
          <p:cNvSpPr/>
          <p:nvPr/>
        </p:nvSpPr>
        <p:spPr>
          <a:xfrm>
            <a:off x="0" y="0"/>
            <a:ext cx="14630400" cy="8229600"/>
          </a:xfrm>
          <a:prstGeom prst="rect">
            <a:avLst/>
          </a:prstGeom>
          <a:solidFill>
            <a:srgbClr val="F3F3F7"/>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txBody>
          <a:bodyPr/>
          <a:lstStyle/>
          <a:p>
            <a:endParaRPr lang="en-US"/>
          </a:p>
        </p:txBody>
      </p:sp>
      <p:sp>
        <p:nvSpPr>
          <p:cNvPr id="3" name="Shape 1"/>
          <p:cNvSpPr/>
          <p:nvPr/>
        </p:nvSpPr>
        <p:spPr>
          <a:xfrm>
            <a:off x="0" y="0"/>
            <a:ext cx="14630400" cy="8229600"/>
          </a:xfrm>
          <a:prstGeom prst="rect">
            <a:avLst/>
          </a:prstGeom>
          <a:solidFill>
            <a:srgbClr val="F3F3F7"/>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txBody>
          <a:bodyPr/>
          <a:lstStyle/>
          <a:p>
            <a:endParaRPr lang="en-US"/>
          </a:p>
        </p:txBody>
      </p:sp>
      <p:sp>
        <p:nvSpPr>
          <p:cNvPr id="3" name="Shape 1"/>
          <p:cNvSpPr/>
          <p:nvPr/>
        </p:nvSpPr>
        <p:spPr>
          <a:xfrm>
            <a:off x="0" y="0"/>
            <a:ext cx="14630400" cy="8229600"/>
          </a:xfrm>
          <a:prstGeom prst="rect">
            <a:avLst/>
          </a:prstGeom>
          <a:solidFill>
            <a:srgbClr val="F3F3F7"/>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txBody>
          <a:bodyPr/>
          <a:lstStyle/>
          <a:p>
            <a:endParaRPr lang="en-US"/>
          </a:p>
        </p:txBody>
      </p:sp>
      <p:sp>
        <p:nvSpPr>
          <p:cNvPr id="3" name="Shape 1"/>
          <p:cNvSpPr/>
          <p:nvPr/>
        </p:nvSpPr>
        <p:spPr>
          <a:xfrm>
            <a:off x="0" y="0"/>
            <a:ext cx="14630400" cy="8229600"/>
          </a:xfrm>
          <a:prstGeom prst="rect">
            <a:avLst/>
          </a:prstGeom>
          <a:solidFill>
            <a:srgbClr val="F3F3F7"/>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sv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793790" y="2864525"/>
            <a:ext cx="7396282" cy="708779"/>
          </a:xfrm>
          <a:prstGeom prst="rect">
            <a:avLst/>
          </a:prstGeom>
          <a:noFill/>
          <a:ln/>
        </p:spPr>
        <p:txBody>
          <a:bodyPr wrap="none" lIns="0" tIns="0" rIns="0" bIns="0" rtlCol="0" anchor="t"/>
          <a:lstStyle/>
          <a:p>
            <a:pPr marL="0" indent="0" algn="l">
              <a:lnSpc>
                <a:spcPts val="5550"/>
              </a:lnSpc>
              <a:buNone/>
            </a:pPr>
            <a:r>
              <a:rPr lang="en-US" sz="4450" b="1" dirty="0">
                <a:solidFill>
                  <a:srgbClr val="101014"/>
                </a:solidFill>
                <a:latin typeface="Playfair Display Bold" pitchFamily="34" charset="0"/>
                <a:ea typeface="Playfair Display Bold" pitchFamily="34" charset="-122"/>
                <a:cs typeface="Playfair Display Bold" pitchFamily="34" charset="-120"/>
              </a:rPr>
              <a:t>Internship Report Summary</a:t>
            </a:r>
            <a:endParaRPr lang="en-US" sz="4450" dirty="0"/>
          </a:p>
        </p:txBody>
      </p:sp>
      <p:sp>
        <p:nvSpPr>
          <p:cNvPr id="4" name="Text 1"/>
          <p:cNvSpPr/>
          <p:nvPr/>
        </p:nvSpPr>
        <p:spPr>
          <a:xfrm>
            <a:off x="793790" y="3913465"/>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This presentation summarizes my main internship report, highlighting the knowledge, skills, and professional experience gained. It reflects my learning journey, practical involvement, and personal development through real workplace exposure in IT and networking.</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686044"/>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101014"/>
                </a:solidFill>
                <a:latin typeface="Playfair Display Bold" pitchFamily="34" charset="0"/>
                <a:ea typeface="Playfair Display Bold" pitchFamily="34" charset="-122"/>
                <a:cs typeface="Playfair Display Bold" pitchFamily="34" charset="-120"/>
              </a:rPr>
              <a:t>Presentation Agenda</a:t>
            </a:r>
            <a:endParaRPr lang="en-US" sz="4450" dirty="0"/>
          </a:p>
        </p:txBody>
      </p:sp>
      <p:sp>
        <p:nvSpPr>
          <p:cNvPr id="3" name="Text 1"/>
          <p:cNvSpPr/>
          <p:nvPr/>
        </p:nvSpPr>
        <p:spPr>
          <a:xfrm>
            <a:off x="793790" y="284845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Playfair Display Light" pitchFamily="34" charset="0"/>
                <a:ea typeface="Playfair Display Light" pitchFamily="34" charset="-122"/>
                <a:cs typeface="Playfair Display Light" pitchFamily="34" charset="-120"/>
              </a:rPr>
              <a:t>01</a:t>
            </a:r>
            <a:endParaRPr lang="en-US" sz="1750" dirty="0"/>
          </a:p>
        </p:txBody>
      </p:sp>
      <p:sp>
        <p:nvSpPr>
          <p:cNvPr id="4" name="Shape 2"/>
          <p:cNvSpPr/>
          <p:nvPr/>
        </p:nvSpPr>
        <p:spPr>
          <a:xfrm>
            <a:off x="793790" y="3203496"/>
            <a:ext cx="4196358" cy="30480"/>
          </a:xfrm>
          <a:prstGeom prst="rect">
            <a:avLst/>
          </a:prstGeom>
          <a:solidFill>
            <a:srgbClr val="101014"/>
          </a:solidFill>
          <a:ln/>
        </p:spPr>
        <p:txBody>
          <a:bodyPr/>
          <a:lstStyle/>
          <a:p>
            <a:endParaRPr lang="en-US"/>
          </a:p>
        </p:txBody>
      </p:sp>
      <p:sp>
        <p:nvSpPr>
          <p:cNvPr id="5" name="Text 3"/>
          <p:cNvSpPr/>
          <p:nvPr/>
        </p:nvSpPr>
        <p:spPr>
          <a:xfrm>
            <a:off x="793790" y="337780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Introduction</a:t>
            </a:r>
            <a:endParaRPr lang="en-US" sz="2200" dirty="0"/>
          </a:p>
        </p:txBody>
      </p:sp>
      <p:sp>
        <p:nvSpPr>
          <p:cNvPr id="6" name="Text 4"/>
          <p:cNvSpPr/>
          <p:nvPr/>
        </p:nvSpPr>
        <p:spPr>
          <a:xfrm>
            <a:off x="793790" y="3868222"/>
            <a:ext cx="4196358" cy="725805"/>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Setting the stage for the internship experience.</a:t>
            </a:r>
            <a:endParaRPr lang="en-US" sz="1750" dirty="0"/>
          </a:p>
        </p:txBody>
      </p:sp>
      <p:sp>
        <p:nvSpPr>
          <p:cNvPr id="7" name="Text 5"/>
          <p:cNvSpPr/>
          <p:nvPr/>
        </p:nvSpPr>
        <p:spPr>
          <a:xfrm>
            <a:off x="5216962" y="284845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Playfair Display Light" pitchFamily="34" charset="0"/>
                <a:ea typeface="Playfair Display Light" pitchFamily="34" charset="-122"/>
                <a:cs typeface="Playfair Display Light" pitchFamily="34" charset="-120"/>
              </a:rPr>
              <a:t>02</a:t>
            </a:r>
            <a:endParaRPr lang="en-US" sz="1750" dirty="0"/>
          </a:p>
        </p:txBody>
      </p:sp>
      <p:sp>
        <p:nvSpPr>
          <p:cNvPr id="8" name="Shape 6"/>
          <p:cNvSpPr/>
          <p:nvPr/>
        </p:nvSpPr>
        <p:spPr>
          <a:xfrm>
            <a:off x="5216962" y="3203496"/>
            <a:ext cx="4196358" cy="30480"/>
          </a:xfrm>
          <a:prstGeom prst="rect">
            <a:avLst/>
          </a:prstGeom>
          <a:solidFill>
            <a:srgbClr val="101014"/>
          </a:solidFill>
          <a:ln/>
        </p:spPr>
        <p:txBody>
          <a:bodyPr/>
          <a:lstStyle/>
          <a:p>
            <a:endParaRPr lang="en-US"/>
          </a:p>
        </p:txBody>
      </p:sp>
      <p:sp>
        <p:nvSpPr>
          <p:cNvPr id="9" name="Text 7"/>
          <p:cNvSpPr/>
          <p:nvPr/>
        </p:nvSpPr>
        <p:spPr>
          <a:xfrm>
            <a:off x="5216962" y="3377803"/>
            <a:ext cx="3023830"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Organization Overview</a:t>
            </a:r>
            <a:endParaRPr lang="en-US" sz="2200" dirty="0"/>
          </a:p>
        </p:txBody>
      </p:sp>
      <p:sp>
        <p:nvSpPr>
          <p:cNvPr id="10" name="Text 8"/>
          <p:cNvSpPr/>
          <p:nvPr/>
        </p:nvSpPr>
        <p:spPr>
          <a:xfrm>
            <a:off x="5216962" y="3868222"/>
            <a:ext cx="4196358" cy="725805"/>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Understanding the company's background and services.</a:t>
            </a:r>
            <a:endParaRPr lang="en-US" sz="1750" dirty="0"/>
          </a:p>
        </p:txBody>
      </p:sp>
      <p:sp>
        <p:nvSpPr>
          <p:cNvPr id="11" name="Text 9"/>
          <p:cNvSpPr/>
          <p:nvPr/>
        </p:nvSpPr>
        <p:spPr>
          <a:xfrm>
            <a:off x="9640133" y="284845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Playfair Display Light" pitchFamily="34" charset="0"/>
                <a:ea typeface="Playfair Display Light" pitchFamily="34" charset="-122"/>
                <a:cs typeface="Playfair Display Light" pitchFamily="34" charset="-120"/>
              </a:rPr>
              <a:t>03</a:t>
            </a:r>
            <a:endParaRPr lang="en-US" sz="1750" dirty="0"/>
          </a:p>
        </p:txBody>
      </p:sp>
      <p:sp>
        <p:nvSpPr>
          <p:cNvPr id="12" name="Shape 10"/>
          <p:cNvSpPr/>
          <p:nvPr/>
        </p:nvSpPr>
        <p:spPr>
          <a:xfrm>
            <a:off x="9640133" y="3203496"/>
            <a:ext cx="4196358" cy="30480"/>
          </a:xfrm>
          <a:prstGeom prst="rect">
            <a:avLst/>
          </a:prstGeom>
          <a:solidFill>
            <a:srgbClr val="101014"/>
          </a:solidFill>
          <a:ln/>
        </p:spPr>
        <p:txBody>
          <a:bodyPr/>
          <a:lstStyle/>
          <a:p>
            <a:endParaRPr lang="en-US"/>
          </a:p>
        </p:txBody>
      </p:sp>
      <p:sp>
        <p:nvSpPr>
          <p:cNvPr id="13" name="Text 11"/>
          <p:cNvSpPr/>
          <p:nvPr/>
        </p:nvSpPr>
        <p:spPr>
          <a:xfrm>
            <a:off x="9640133" y="337780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Internship Activities</a:t>
            </a:r>
            <a:endParaRPr lang="en-US" sz="2200" dirty="0"/>
          </a:p>
        </p:txBody>
      </p:sp>
      <p:sp>
        <p:nvSpPr>
          <p:cNvPr id="14" name="Text 12"/>
          <p:cNvSpPr/>
          <p:nvPr/>
        </p:nvSpPr>
        <p:spPr>
          <a:xfrm>
            <a:off x="9640133" y="3868222"/>
            <a:ext cx="4196358" cy="725805"/>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A summary of learning logs and practical involvement.</a:t>
            </a:r>
            <a:endParaRPr lang="en-US" sz="1750" dirty="0"/>
          </a:p>
        </p:txBody>
      </p:sp>
      <p:sp>
        <p:nvSpPr>
          <p:cNvPr id="15" name="Text 13"/>
          <p:cNvSpPr/>
          <p:nvPr/>
        </p:nvSpPr>
        <p:spPr>
          <a:xfrm>
            <a:off x="793790" y="499086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Playfair Display Light" pitchFamily="34" charset="0"/>
                <a:ea typeface="Playfair Display Light" pitchFamily="34" charset="-122"/>
                <a:cs typeface="Playfair Display Light" pitchFamily="34" charset="-120"/>
              </a:rPr>
              <a:t>04</a:t>
            </a:r>
            <a:endParaRPr lang="en-US" sz="1750" dirty="0"/>
          </a:p>
        </p:txBody>
      </p:sp>
      <p:sp>
        <p:nvSpPr>
          <p:cNvPr id="16" name="Shape 14"/>
          <p:cNvSpPr/>
          <p:nvPr/>
        </p:nvSpPr>
        <p:spPr>
          <a:xfrm>
            <a:off x="793790" y="5345906"/>
            <a:ext cx="6407944" cy="30480"/>
          </a:xfrm>
          <a:prstGeom prst="rect">
            <a:avLst/>
          </a:prstGeom>
          <a:solidFill>
            <a:srgbClr val="101014"/>
          </a:solidFill>
          <a:ln/>
        </p:spPr>
        <p:txBody>
          <a:bodyPr/>
          <a:lstStyle/>
          <a:p>
            <a:endParaRPr lang="en-US"/>
          </a:p>
        </p:txBody>
      </p:sp>
      <p:sp>
        <p:nvSpPr>
          <p:cNvPr id="17" name="Text 15"/>
          <p:cNvSpPr/>
          <p:nvPr/>
        </p:nvSpPr>
        <p:spPr>
          <a:xfrm>
            <a:off x="793790" y="5520214"/>
            <a:ext cx="2918222"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Concluding Reflection</a:t>
            </a:r>
            <a:endParaRPr lang="en-US" sz="2200" dirty="0"/>
          </a:p>
        </p:txBody>
      </p:sp>
      <p:sp>
        <p:nvSpPr>
          <p:cNvPr id="18" name="Text 16"/>
          <p:cNvSpPr/>
          <p:nvPr/>
        </p:nvSpPr>
        <p:spPr>
          <a:xfrm>
            <a:off x="793790" y="6010632"/>
            <a:ext cx="6407944"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Key takeaways and personal growth from the internship.</a:t>
            </a:r>
            <a:endParaRPr lang="en-US" sz="1750" dirty="0"/>
          </a:p>
        </p:txBody>
      </p:sp>
      <p:sp>
        <p:nvSpPr>
          <p:cNvPr id="19" name="Text 17"/>
          <p:cNvSpPr/>
          <p:nvPr/>
        </p:nvSpPr>
        <p:spPr>
          <a:xfrm>
            <a:off x="7428548" y="499086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Playfair Display Light" pitchFamily="34" charset="0"/>
                <a:ea typeface="Playfair Display Light" pitchFamily="34" charset="-122"/>
                <a:cs typeface="Playfair Display Light" pitchFamily="34" charset="-120"/>
              </a:rPr>
              <a:t>05</a:t>
            </a:r>
            <a:endParaRPr lang="en-US" sz="1750" dirty="0"/>
          </a:p>
        </p:txBody>
      </p:sp>
      <p:sp>
        <p:nvSpPr>
          <p:cNvPr id="20" name="Shape 18"/>
          <p:cNvSpPr/>
          <p:nvPr/>
        </p:nvSpPr>
        <p:spPr>
          <a:xfrm>
            <a:off x="7428548" y="5345906"/>
            <a:ext cx="6407944" cy="30480"/>
          </a:xfrm>
          <a:prstGeom prst="rect">
            <a:avLst/>
          </a:prstGeom>
          <a:solidFill>
            <a:srgbClr val="101014"/>
          </a:solidFill>
          <a:ln/>
        </p:spPr>
        <p:txBody>
          <a:bodyPr/>
          <a:lstStyle/>
          <a:p>
            <a:endParaRPr lang="en-US"/>
          </a:p>
        </p:txBody>
      </p:sp>
      <p:sp>
        <p:nvSpPr>
          <p:cNvPr id="21" name="Text 19"/>
          <p:cNvSpPr/>
          <p:nvPr/>
        </p:nvSpPr>
        <p:spPr>
          <a:xfrm>
            <a:off x="7428548" y="552021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Future Plans</a:t>
            </a:r>
            <a:endParaRPr lang="en-US" sz="2200" dirty="0"/>
          </a:p>
        </p:txBody>
      </p:sp>
      <p:sp>
        <p:nvSpPr>
          <p:cNvPr id="22" name="Text 20"/>
          <p:cNvSpPr/>
          <p:nvPr/>
        </p:nvSpPr>
        <p:spPr>
          <a:xfrm>
            <a:off x="7428548" y="6010632"/>
            <a:ext cx="6407944"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Academic and career aspirations post-internship.</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793790" y="2328624"/>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101014"/>
                </a:solidFill>
                <a:latin typeface="Playfair Display Bold" pitchFamily="34" charset="0"/>
                <a:ea typeface="Playfair Display Bold" pitchFamily="34" charset="-122"/>
                <a:cs typeface="Playfair Display Bold" pitchFamily="34" charset="-120"/>
              </a:rPr>
              <a:t>Background of Bhusal Tech Traders and Suppliers</a:t>
            </a:r>
            <a:endParaRPr lang="en-US" sz="4450" dirty="0"/>
          </a:p>
        </p:txBody>
      </p:sp>
      <p:sp>
        <p:nvSpPr>
          <p:cNvPr id="4" name="Text 1"/>
          <p:cNvSpPr/>
          <p:nvPr/>
        </p:nvSpPr>
        <p:spPr>
          <a:xfrm>
            <a:off x="793790" y="4086344"/>
            <a:ext cx="7556421" cy="1814513"/>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Bhusal Tech is a leading technology service provider specializing in networking equipment, CCTV systems, and comprehensive IT support. They deliver expert installation, configuration, maintenance, and reliable customer support solutions, ensuring secure and high-performance IT infrastructure for diverse organizations.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018461" y="517327"/>
            <a:ext cx="4562832" cy="570309"/>
          </a:xfrm>
          <a:prstGeom prst="rect">
            <a:avLst/>
          </a:prstGeom>
          <a:noFill/>
          <a:ln/>
        </p:spPr>
        <p:txBody>
          <a:bodyPr wrap="none" lIns="0" tIns="0" rIns="0" bIns="0" rtlCol="0" anchor="t"/>
          <a:lstStyle/>
          <a:p>
            <a:pPr marL="0" indent="0" algn="l">
              <a:lnSpc>
                <a:spcPts val="4450"/>
              </a:lnSpc>
              <a:buNone/>
            </a:pPr>
            <a:r>
              <a:rPr lang="en-US" sz="3550" b="1" dirty="0">
                <a:solidFill>
                  <a:srgbClr val="101014"/>
                </a:solidFill>
                <a:latin typeface="Playfair Display Bold" pitchFamily="34" charset="0"/>
                <a:ea typeface="Playfair Display Bold" pitchFamily="34" charset="-122"/>
                <a:cs typeface="Playfair Display Bold" pitchFamily="34" charset="-120"/>
              </a:rPr>
              <a:t>My Internship Role</a:t>
            </a:r>
            <a:endParaRPr lang="en-US" sz="3550" dirty="0"/>
          </a:p>
        </p:txBody>
      </p:sp>
      <p:sp>
        <p:nvSpPr>
          <p:cNvPr id="4" name="Text 1"/>
          <p:cNvSpPr/>
          <p:nvPr/>
        </p:nvSpPr>
        <p:spPr>
          <a:xfrm>
            <a:off x="7545467" y="1454706"/>
            <a:ext cx="3595926" cy="285155"/>
          </a:xfrm>
          <a:prstGeom prst="rect">
            <a:avLst/>
          </a:prstGeom>
          <a:noFill/>
          <a:ln/>
        </p:spPr>
        <p:txBody>
          <a:bodyPr wrap="none" lIns="0" tIns="0" rIns="0" bIns="0" rtlCol="0" anchor="t"/>
          <a:lstStyle/>
          <a:p>
            <a:pPr marL="0" indent="0" algn="l">
              <a:lnSpc>
                <a:spcPts val="2200"/>
              </a:lnSpc>
              <a:buNone/>
            </a:pPr>
            <a:r>
              <a:rPr lang="en-US" sz="1750" b="1" dirty="0">
                <a:solidFill>
                  <a:srgbClr val="101014"/>
                </a:solidFill>
                <a:latin typeface="Playfair Display Bold" pitchFamily="34" charset="0"/>
                <a:ea typeface="Playfair Display Bold" pitchFamily="34" charset="-122"/>
                <a:cs typeface="Playfair Display Bold" pitchFamily="34" charset="-120"/>
              </a:rPr>
              <a:t>Networking and IT Support Intern</a:t>
            </a:r>
            <a:endParaRPr lang="en-US" sz="1750" dirty="0"/>
          </a:p>
        </p:txBody>
      </p:sp>
      <p:sp>
        <p:nvSpPr>
          <p:cNvPr id="5" name="Text 2"/>
          <p:cNvSpPr/>
          <p:nvPr/>
        </p:nvSpPr>
        <p:spPr>
          <a:xfrm>
            <a:off x="7545467" y="1886664"/>
            <a:ext cx="6074093" cy="526971"/>
          </a:xfrm>
          <a:prstGeom prst="rect">
            <a:avLst/>
          </a:prstGeom>
          <a:noFill/>
          <a:ln/>
        </p:spPr>
        <p:txBody>
          <a:bodyPr wrap="square" lIns="0" tIns="0" rIns="0" bIns="0" rtlCol="0" anchor="t"/>
          <a:lstStyle/>
          <a:p>
            <a:pPr marL="0" indent="0" algn="l">
              <a:lnSpc>
                <a:spcPts val="2050"/>
              </a:lnSpc>
              <a:buNone/>
            </a:pPr>
            <a:r>
              <a:rPr lang="en-US" sz="1400" dirty="0">
                <a:solidFill>
                  <a:srgbClr val="39393C"/>
                </a:solidFill>
                <a:latin typeface="Open Sans" pitchFamily="34" charset="0"/>
                <a:ea typeface="Open Sans" pitchFamily="34" charset="-122"/>
                <a:cs typeface="Open Sans" pitchFamily="34" charset="-120"/>
              </a:rPr>
              <a:t>I served as a Networking and IT Support Intern within the Technical Support and Networking Department. My responsibilities included:</a:t>
            </a:r>
            <a:endParaRPr lang="en-US" sz="1400" dirty="0"/>
          </a:p>
        </p:txBody>
      </p:sp>
      <p:sp>
        <p:nvSpPr>
          <p:cNvPr id="6" name="Text 3"/>
          <p:cNvSpPr/>
          <p:nvPr/>
        </p:nvSpPr>
        <p:spPr>
          <a:xfrm>
            <a:off x="7545467" y="2545794"/>
            <a:ext cx="6074093" cy="1054004"/>
          </a:xfrm>
          <a:prstGeom prst="rect">
            <a:avLst/>
          </a:prstGeom>
          <a:noFill/>
          <a:ln/>
        </p:spPr>
        <p:txBody>
          <a:bodyPr wrap="square" lIns="0" tIns="0" rIns="0" bIns="0" rtlCol="0" anchor="t"/>
          <a:lstStyle/>
          <a:p>
            <a:pPr marL="342900" indent="-342900" algn="l">
              <a:lnSpc>
                <a:spcPts val="2050"/>
              </a:lnSpc>
              <a:buSzPct val="100000"/>
              <a:buChar char="•"/>
            </a:pPr>
            <a:r>
              <a:rPr lang="en-US" sz="1400" dirty="0">
                <a:solidFill>
                  <a:srgbClr val="39393C"/>
                </a:solidFill>
                <a:latin typeface="Open Sans" pitchFamily="34" charset="0"/>
                <a:ea typeface="Open Sans" pitchFamily="34" charset="-122"/>
                <a:cs typeface="Open Sans" pitchFamily="34" charset="-120"/>
              </a:rPr>
              <a:t>Assisting with camera installation and configuration.</a:t>
            </a:r>
            <a:endParaRPr lang="en-US" sz="1400" dirty="0"/>
          </a:p>
          <a:p>
            <a:pPr marL="342900" indent="-342900" algn="l">
              <a:lnSpc>
                <a:spcPts val="2050"/>
              </a:lnSpc>
              <a:buSzPct val="100000"/>
              <a:buChar char="•"/>
            </a:pPr>
            <a:r>
              <a:rPr lang="en-US" sz="1400" dirty="0">
                <a:solidFill>
                  <a:srgbClr val="39393C"/>
                </a:solidFill>
                <a:latin typeface="Open Sans" pitchFamily="34" charset="0"/>
                <a:ea typeface="Open Sans" pitchFamily="34" charset="-122"/>
                <a:cs typeface="Open Sans" pitchFamily="34" charset="-120"/>
              </a:rPr>
              <a:t>Performing network setup and troubleshooting.</a:t>
            </a:r>
            <a:endParaRPr lang="en-US" sz="1400" dirty="0"/>
          </a:p>
          <a:p>
            <a:pPr marL="342900" indent="-342900" algn="l">
              <a:lnSpc>
                <a:spcPts val="2050"/>
              </a:lnSpc>
              <a:buSzPct val="100000"/>
              <a:buChar char="•"/>
            </a:pPr>
            <a:r>
              <a:rPr lang="en-US" sz="1400" dirty="0">
                <a:solidFill>
                  <a:srgbClr val="39393C"/>
                </a:solidFill>
                <a:latin typeface="Open Sans" pitchFamily="34" charset="0"/>
                <a:ea typeface="Open Sans" pitchFamily="34" charset="-122"/>
                <a:cs typeface="Open Sans" pitchFamily="34" charset="-120"/>
              </a:rPr>
              <a:t>Resolving hardware and software issues.</a:t>
            </a:r>
            <a:endParaRPr lang="en-US" sz="1400" dirty="0"/>
          </a:p>
          <a:p>
            <a:pPr marL="342900" indent="-342900" algn="l">
              <a:lnSpc>
                <a:spcPts val="2050"/>
              </a:lnSpc>
              <a:buSzPct val="100000"/>
              <a:buChar char="•"/>
            </a:pPr>
            <a:r>
              <a:rPr lang="en-US" sz="1400" dirty="0">
                <a:solidFill>
                  <a:srgbClr val="39393C"/>
                </a:solidFill>
                <a:latin typeface="Open Sans" pitchFamily="34" charset="0"/>
                <a:ea typeface="Open Sans" pitchFamily="34" charset="-122"/>
                <a:cs typeface="Open Sans" pitchFamily="34" charset="-120"/>
              </a:rPr>
              <a:t>Providing on-site and remote technical support to clients.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459706"/>
            <a:ext cx="6979563" cy="708779"/>
          </a:xfrm>
          <a:prstGeom prst="rect">
            <a:avLst/>
          </a:prstGeom>
          <a:noFill/>
          <a:ln/>
        </p:spPr>
        <p:txBody>
          <a:bodyPr wrap="none" lIns="0" tIns="0" rIns="0" bIns="0" rtlCol="0" anchor="t"/>
          <a:lstStyle/>
          <a:p>
            <a:pPr marL="0" indent="0" algn="l">
              <a:lnSpc>
                <a:spcPts val="5550"/>
              </a:lnSpc>
              <a:buNone/>
            </a:pPr>
            <a:r>
              <a:rPr lang="en-US" sz="4450" b="1" dirty="0">
                <a:solidFill>
                  <a:srgbClr val="101014"/>
                </a:solidFill>
                <a:latin typeface="Playfair Display Bold" pitchFamily="34" charset="0"/>
                <a:ea typeface="Playfair Display Bold" pitchFamily="34" charset="-122"/>
                <a:cs typeface="Playfair Display Bold" pitchFamily="34" charset="-120"/>
              </a:rPr>
              <a:t>Overview of Learning Logs</a:t>
            </a:r>
            <a:endParaRPr lang="en-US" sz="4450" dirty="0"/>
          </a:p>
        </p:txBody>
      </p:sp>
      <p:pic>
        <p:nvPicPr>
          <p:cNvPr id="3" name="Image 0" descr="preencoded.png"/>
          <p:cNvPicPr>
            <a:picLocks noChangeAspect="1"/>
          </p:cNvPicPr>
          <p:nvPr/>
        </p:nvPicPr>
        <p:blipFill>
          <a:blip r:embed="rId3"/>
          <a:stretch>
            <a:fillRect/>
          </a:stretch>
        </p:blipFill>
        <p:spPr>
          <a:xfrm>
            <a:off x="793790" y="2622113"/>
            <a:ext cx="4347567" cy="907256"/>
          </a:xfrm>
          <a:prstGeom prst="rect">
            <a:avLst/>
          </a:prstGeom>
        </p:spPr>
      </p:pic>
      <p:sp>
        <p:nvSpPr>
          <p:cNvPr id="4" name="Text 1"/>
          <p:cNvSpPr/>
          <p:nvPr/>
        </p:nvSpPr>
        <p:spPr>
          <a:xfrm>
            <a:off x="1020604" y="3756184"/>
            <a:ext cx="3521512"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Structured Documentation</a:t>
            </a:r>
            <a:endParaRPr lang="en-US" sz="2200" dirty="0"/>
          </a:p>
        </p:txBody>
      </p:sp>
      <p:sp>
        <p:nvSpPr>
          <p:cNvPr id="5" name="Text 2"/>
          <p:cNvSpPr/>
          <p:nvPr/>
        </p:nvSpPr>
        <p:spPr>
          <a:xfrm>
            <a:off x="1020604" y="4246602"/>
            <a:ext cx="3893939" cy="1088708"/>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Ten detailed logs documenting tasks, challenges, and skills developed.</a:t>
            </a:r>
            <a:endParaRPr lang="en-US" sz="1750" dirty="0"/>
          </a:p>
        </p:txBody>
      </p:sp>
      <p:pic>
        <p:nvPicPr>
          <p:cNvPr id="6" name="Image 1" descr="preencoded.png"/>
          <p:cNvPicPr>
            <a:picLocks noChangeAspect="1"/>
          </p:cNvPicPr>
          <p:nvPr/>
        </p:nvPicPr>
        <p:blipFill>
          <a:blip r:embed="rId4"/>
          <a:stretch>
            <a:fillRect/>
          </a:stretch>
        </p:blipFill>
        <p:spPr>
          <a:xfrm>
            <a:off x="5141357" y="2622113"/>
            <a:ext cx="4347567" cy="907256"/>
          </a:xfrm>
          <a:prstGeom prst="rect">
            <a:avLst/>
          </a:prstGeom>
        </p:spPr>
      </p:pic>
      <p:sp>
        <p:nvSpPr>
          <p:cNvPr id="7" name="Text 3"/>
          <p:cNvSpPr/>
          <p:nvPr/>
        </p:nvSpPr>
        <p:spPr>
          <a:xfrm>
            <a:off x="5368171" y="375618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Consistent Learning</a:t>
            </a:r>
            <a:endParaRPr lang="en-US" sz="2200" dirty="0"/>
          </a:p>
        </p:txBody>
      </p:sp>
      <p:sp>
        <p:nvSpPr>
          <p:cNvPr id="8" name="Text 4"/>
          <p:cNvSpPr/>
          <p:nvPr/>
        </p:nvSpPr>
        <p:spPr>
          <a:xfrm>
            <a:off x="5368171" y="4246602"/>
            <a:ext cx="3893939" cy="1088708"/>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Each log illustrates continuous growth and adaptation in the workplace.</a:t>
            </a:r>
            <a:endParaRPr lang="en-US" sz="1750" dirty="0"/>
          </a:p>
        </p:txBody>
      </p:sp>
      <p:pic>
        <p:nvPicPr>
          <p:cNvPr id="9" name="Image 2" descr="preencoded.png"/>
          <p:cNvPicPr>
            <a:picLocks noChangeAspect="1"/>
          </p:cNvPicPr>
          <p:nvPr/>
        </p:nvPicPr>
        <p:blipFill>
          <a:blip r:embed="rId5"/>
          <a:stretch>
            <a:fillRect/>
          </a:stretch>
        </p:blipFill>
        <p:spPr>
          <a:xfrm>
            <a:off x="9488924" y="2622113"/>
            <a:ext cx="4347567" cy="907256"/>
          </a:xfrm>
          <a:prstGeom prst="rect">
            <a:avLst/>
          </a:prstGeom>
        </p:spPr>
      </p:pic>
      <p:sp>
        <p:nvSpPr>
          <p:cNvPr id="10" name="Text 5"/>
          <p:cNvSpPr/>
          <p:nvPr/>
        </p:nvSpPr>
        <p:spPr>
          <a:xfrm>
            <a:off x="9715738" y="3756184"/>
            <a:ext cx="3422928"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Professional Development</a:t>
            </a:r>
            <a:endParaRPr lang="en-US" sz="2200" dirty="0"/>
          </a:p>
        </p:txBody>
      </p:sp>
      <p:sp>
        <p:nvSpPr>
          <p:cNvPr id="11" name="Text 6"/>
          <p:cNvSpPr/>
          <p:nvPr/>
        </p:nvSpPr>
        <p:spPr>
          <a:xfrm>
            <a:off x="9715738" y="4246602"/>
            <a:ext cx="3893939" cy="1088708"/>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A clear demonstration of evolving competence and practical application.</a:t>
            </a:r>
            <a:endParaRPr lang="en-US" sz="1750" dirty="0"/>
          </a:p>
        </p:txBody>
      </p:sp>
      <p:sp>
        <p:nvSpPr>
          <p:cNvPr id="12" name="Text 7"/>
          <p:cNvSpPr/>
          <p:nvPr/>
        </p:nvSpPr>
        <p:spPr>
          <a:xfrm>
            <a:off x="793790" y="6044089"/>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These logs collectively showcase a journey of consistent learning, critical reflection, and significant professional growth throughout my internship period.</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47474" y="649248"/>
            <a:ext cx="10116503" cy="667464"/>
          </a:xfrm>
          <a:prstGeom prst="rect">
            <a:avLst/>
          </a:prstGeom>
          <a:noFill/>
          <a:ln/>
        </p:spPr>
        <p:txBody>
          <a:bodyPr wrap="none" lIns="0" tIns="0" rIns="0" bIns="0" rtlCol="0" anchor="t"/>
          <a:lstStyle/>
          <a:p>
            <a:pPr marL="0" indent="0" algn="l">
              <a:lnSpc>
                <a:spcPts val="5250"/>
              </a:lnSpc>
              <a:buNone/>
            </a:pPr>
            <a:r>
              <a:rPr lang="en-US" sz="4200" b="1" dirty="0">
                <a:solidFill>
                  <a:srgbClr val="101014"/>
                </a:solidFill>
                <a:latin typeface="Playfair Display Bold" pitchFamily="34" charset="0"/>
                <a:ea typeface="Playfair Display Bold" pitchFamily="34" charset="-122"/>
                <a:cs typeface="Playfair Display Bold" pitchFamily="34" charset="-120"/>
              </a:rPr>
              <a:t>Logs 1–3: Communication and Teamwork</a:t>
            </a:r>
            <a:endParaRPr lang="en-US" sz="4200" dirty="0"/>
          </a:p>
        </p:txBody>
      </p:sp>
      <p:sp>
        <p:nvSpPr>
          <p:cNvPr id="4" name="Text 1"/>
          <p:cNvSpPr/>
          <p:nvPr/>
        </p:nvSpPr>
        <p:spPr>
          <a:xfrm>
            <a:off x="747474" y="6130885"/>
            <a:ext cx="3118604" cy="333613"/>
          </a:xfrm>
          <a:prstGeom prst="rect">
            <a:avLst/>
          </a:prstGeom>
          <a:noFill/>
          <a:ln/>
        </p:spPr>
        <p:txBody>
          <a:bodyPr wrap="none" lIns="0" tIns="0" rIns="0" bIns="0" rtlCol="0" anchor="t"/>
          <a:lstStyle/>
          <a:p>
            <a:pPr marL="0" indent="0" algn="l">
              <a:lnSpc>
                <a:spcPts val="2600"/>
              </a:lnSpc>
              <a:buNone/>
            </a:pPr>
            <a:r>
              <a:rPr lang="en-US" sz="2100" b="1" dirty="0">
                <a:solidFill>
                  <a:srgbClr val="39393C"/>
                </a:solidFill>
                <a:latin typeface="Playfair Display Bold" pitchFamily="34" charset="0"/>
                <a:ea typeface="Playfair Display Bold" pitchFamily="34" charset="-122"/>
                <a:cs typeface="Playfair Display Bold" pitchFamily="34" charset="-120"/>
              </a:rPr>
              <a:t>Effective Communication</a:t>
            </a:r>
            <a:endParaRPr lang="en-US" sz="2100" dirty="0"/>
          </a:p>
        </p:txBody>
      </p:sp>
      <p:sp>
        <p:nvSpPr>
          <p:cNvPr id="5" name="Text 2"/>
          <p:cNvSpPr/>
          <p:nvPr/>
        </p:nvSpPr>
        <p:spPr>
          <a:xfrm>
            <a:off x="747474" y="6585109"/>
            <a:ext cx="4210883" cy="995124"/>
          </a:xfrm>
          <a:prstGeom prst="rect">
            <a:avLst/>
          </a:prstGeom>
          <a:noFill/>
          <a:ln/>
        </p:spPr>
        <p:txBody>
          <a:bodyPr wrap="square" lIns="0" tIns="0" rIns="0" bIns="0" rtlCol="0" anchor="t"/>
          <a:lstStyle/>
          <a:p>
            <a:pPr marL="0" indent="0" algn="l">
              <a:lnSpc>
                <a:spcPts val="2600"/>
              </a:lnSpc>
              <a:buNone/>
            </a:pPr>
            <a:r>
              <a:rPr lang="en-US" sz="1650" dirty="0">
                <a:solidFill>
                  <a:srgbClr val="39393C"/>
                </a:solidFill>
                <a:latin typeface="Open Sans" pitchFamily="34" charset="0"/>
                <a:ea typeface="Open Sans" pitchFamily="34" charset="-122"/>
                <a:cs typeface="Open Sans" pitchFamily="34" charset="-120"/>
              </a:rPr>
              <a:t>Developed skills in communicating complex technical issues to both technical and non-technical stakeholders.</a:t>
            </a:r>
            <a:endParaRPr lang="en-US" sz="1650" dirty="0"/>
          </a:p>
        </p:txBody>
      </p:sp>
      <p:sp>
        <p:nvSpPr>
          <p:cNvPr id="7" name="Text 3"/>
          <p:cNvSpPr/>
          <p:nvPr/>
        </p:nvSpPr>
        <p:spPr>
          <a:xfrm>
            <a:off x="5209699" y="6130885"/>
            <a:ext cx="3019901" cy="333613"/>
          </a:xfrm>
          <a:prstGeom prst="rect">
            <a:avLst/>
          </a:prstGeom>
          <a:noFill/>
          <a:ln/>
        </p:spPr>
        <p:txBody>
          <a:bodyPr wrap="none" lIns="0" tIns="0" rIns="0" bIns="0" rtlCol="0" anchor="t"/>
          <a:lstStyle/>
          <a:p>
            <a:pPr marL="0" indent="0" algn="l">
              <a:lnSpc>
                <a:spcPts val="2600"/>
              </a:lnSpc>
              <a:buNone/>
            </a:pPr>
            <a:r>
              <a:rPr lang="en-US" sz="2100" b="1" dirty="0">
                <a:solidFill>
                  <a:srgbClr val="39393C"/>
                </a:solidFill>
                <a:latin typeface="Playfair Display Bold" pitchFamily="34" charset="0"/>
                <a:ea typeface="Playfair Display Bold" pitchFamily="34" charset="-122"/>
                <a:cs typeface="Playfair Display Bold" pitchFamily="34" charset="-120"/>
              </a:rPr>
              <a:t>Collaborative Teamwork</a:t>
            </a:r>
            <a:endParaRPr lang="en-US" sz="2100" dirty="0"/>
          </a:p>
        </p:txBody>
      </p:sp>
      <p:sp>
        <p:nvSpPr>
          <p:cNvPr id="8" name="Text 4"/>
          <p:cNvSpPr/>
          <p:nvPr/>
        </p:nvSpPr>
        <p:spPr>
          <a:xfrm>
            <a:off x="5209699" y="6585109"/>
            <a:ext cx="4210883" cy="995124"/>
          </a:xfrm>
          <a:prstGeom prst="rect">
            <a:avLst/>
          </a:prstGeom>
          <a:noFill/>
          <a:ln/>
        </p:spPr>
        <p:txBody>
          <a:bodyPr wrap="square" lIns="0" tIns="0" rIns="0" bIns="0" rtlCol="0" anchor="t"/>
          <a:lstStyle/>
          <a:p>
            <a:pPr marL="0" indent="0" algn="l">
              <a:lnSpc>
                <a:spcPts val="2600"/>
              </a:lnSpc>
              <a:buNone/>
            </a:pPr>
            <a:r>
              <a:rPr lang="en-US" sz="1650" dirty="0">
                <a:solidFill>
                  <a:srgbClr val="39393C"/>
                </a:solidFill>
                <a:latin typeface="Open Sans" pitchFamily="34" charset="0"/>
                <a:ea typeface="Open Sans" pitchFamily="34" charset="-122"/>
                <a:cs typeface="Open Sans" pitchFamily="34" charset="-120"/>
              </a:rPr>
              <a:t>Actively participated in team projects, fostering a collaborative approach to problem-solving and task completion.</a:t>
            </a:r>
            <a:endParaRPr lang="en-US" sz="1650" dirty="0"/>
          </a:p>
        </p:txBody>
      </p:sp>
      <p:sp>
        <p:nvSpPr>
          <p:cNvPr id="10" name="Text 5"/>
          <p:cNvSpPr/>
          <p:nvPr/>
        </p:nvSpPr>
        <p:spPr>
          <a:xfrm>
            <a:off x="9671923" y="6130885"/>
            <a:ext cx="3260288" cy="333613"/>
          </a:xfrm>
          <a:prstGeom prst="rect">
            <a:avLst/>
          </a:prstGeom>
          <a:noFill/>
          <a:ln/>
        </p:spPr>
        <p:txBody>
          <a:bodyPr wrap="none" lIns="0" tIns="0" rIns="0" bIns="0" rtlCol="0" anchor="t"/>
          <a:lstStyle/>
          <a:p>
            <a:pPr marL="0" indent="0" algn="l">
              <a:lnSpc>
                <a:spcPts val="2600"/>
              </a:lnSpc>
              <a:buNone/>
            </a:pPr>
            <a:r>
              <a:rPr lang="en-US" sz="2100" b="1" dirty="0">
                <a:solidFill>
                  <a:srgbClr val="39393C"/>
                </a:solidFill>
                <a:latin typeface="Playfair Display Bold" pitchFamily="34" charset="0"/>
                <a:ea typeface="Playfair Display Bold" pitchFamily="34" charset="-122"/>
                <a:cs typeface="Playfair Display Bold" pitchFamily="34" charset="-120"/>
              </a:rPr>
              <a:t>Strategic Problem-Solving</a:t>
            </a:r>
            <a:endParaRPr lang="en-US" sz="2100" dirty="0"/>
          </a:p>
        </p:txBody>
      </p:sp>
      <p:sp>
        <p:nvSpPr>
          <p:cNvPr id="11" name="Text 6"/>
          <p:cNvSpPr/>
          <p:nvPr/>
        </p:nvSpPr>
        <p:spPr>
          <a:xfrm>
            <a:off x="9671923" y="6585109"/>
            <a:ext cx="4210883" cy="995124"/>
          </a:xfrm>
          <a:prstGeom prst="rect">
            <a:avLst/>
          </a:prstGeom>
          <a:noFill/>
          <a:ln/>
        </p:spPr>
        <p:txBody>
          <a:bodyPr wrap="square" lIns="0" tIns="0" rIns="0" bIns="0" rtlCol="0" anchor="t"/>
          <a:lstStyle/>
          <a:p>
            <a:pPr marL="0" indent="0" algn="l">
              <a:lnSpc>
                <a:spcPts val="2600"/>
              </a:lnSpc>
              <a:buNone/>
            </a:pPr>
            <a:r>
              <a:rPr lang="en-US" sz="1650" dirty="0">
                <a:solidFill>
                  <a:srgbClr val="39393C"/>
                </a:solidFill>
                <a:latin typeface="Open Sans" pitchFamily="34" charset="0"/>
                <a:ea typeface="Open Sans" pitchFamily="34" charset="-122"/>
                <a:cs typeface="Open Sans" pitchFamily="34" charset="-120"/>
              </a:rPr>
              <a:t>Applied logical and analytical thinking to diagnose and resolve various technical challenges efficiently.</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251109"/>
            <a:ext cx="11898035" cy="708779"/>
          </a:xfrm>
          <a:prstGeom prst="rect">
            <a:avLst/>
          </a:prstGeom>
          <a:noFill/>
          <a:ln/>
        </p:spPr>
        <p:txBody>
          <a:bodyPr wrap="none" lIns="0" tIns="0" rIns="0" bIns="0" rtlCol="0" anchor="t"/>
          <a:lstStyle/>
          <a:p>
            <a:pPr marL="0" indent="0" algn="l">
              <a:lnSpc>
                <a:spcPts val="5550"/>
              </a:lnSpc>
              <a:buNone/>
            </a:pPr>
            <a:r>
              <a:rPr lang="en-US" sz="4450" b="1" dirty="0">
                <a:solidFill>
                  <a:srgbClr val="101014"/>
                </a:solidFill>
                <a:latin typeface="Playfair Display Bold" pitchFamily="34" charset="0"/>
                <a:ea typeface="Playfair Display Bold" pitchFamily="34" charset="-122"/>
                <a:cs typeface="Playfair Display Bold" pitchFamily="34" charset="-120"/>
              </a:rPr>
              <a:t>Logs 4–6: Time Management and Adaptability</a:t>
            </a:r>
            <a:endParaRPr lang="en-US" sz="4450" dirty="0"/>
          </a:p>
        </p:txBody>
      </p:sp>
      <p:sp>
        <p:nvSpPr>
          <p:cNvPr id="3" name="Text 1"/>
          <p:cNvSpPr/>
          <p:nvPr/>
        </p:nvSpPr>
        <p:spPr>
          <a:xfrm>
            <a:off x="1857256" y="2680097"/>
            <a:ext cx="2835235" cy="354330"/>
          </a:xfrm>
          <a:prstGeom prst="rect">
            <a:avLst/>
          </a:prstGeom>
          <a:noFill/>
          <a:ln/>
        </p:spPr>
        <p:txBody>
          <a:bodyPr wrap="none" lIns="0" tIns="0" rIns="0" bIns="0" rtlCol="0" anchor="t"/>
          <a:lstStyle/>
          <a:p>
            <a:pPr marL="0" indent="0" algn="r">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Efficient Scheduling</a:t>
            </a:r>
            <a:endParaRPr lang="en-US" sz="2200" dirty="0"/>
          </a:p>
        </p:txBody>
      </p:sp>
      <p:sp>
        <p:nvSpPr>
          <p:cNvPr id="4" name="Text 2"/>
          <p:cNvSpPr/>
          <p:nvPr/>
        </p:nvSpPr>
        <p:spPr>
          <a:xfrm>
            <a:off x="793790" y="3170515"/>
            <a:ext cx="3898702" cy="1088708"/>
          </a:xfrm>
          <a:prstGeom prst="rect">
            <a:avLst/>
          </a:prstGeom>
          <a:noFill/>
          <a:ln/>
        </p:spPr>
        <p:txBody>
          <a:bodyPr wrap="square" lIns="0" tIns="0" rIns="0" bIns="0" rtlCol="0" anchor="t"/>
          <a:lstStyle/>
          <a:p>
            <a:pPr marL="0" indent="0" algn="r">
              <a:lnSpc>
                <a:spcPts val="2850"/>
              </a:lnSpc>
              <a:buNone/>
            </a:pPr>
            <a:r>
              <a:rPr lang="en-US" sz="1750" dirty="0">
                <a:solidFill>
                  <a:srgbClr val="39393C"/>
                </a:solidFill>
                <a:latin typeface="Open Sans" pitchFamily="34" charset="0"/>
                <a:ea typeface="Open Sans" pitchFamily="34" charset="-122"/>
                <a:cs typeface="Open Sans" pitchFamily="34" charset="-120"/>
              </a:rPr>
              <a:t>Mastered task prioritization and scheduling to meet deadlines consistently.</a:t>
            </a:r>
            <a:endParaRPr lang="en-US" sz="1750" dirty="0"/>
          </a:p>
        </p:txBody>
      </p:sp>
      <p:pic>
        <p:nvPicPr>
          <p:cNvPr id="5" name="Image 0" descr="preencoded.png"/>
          <p:cNvPicPr>
            <a:picLocks noChangeAspect="1"/>
          </p:cNvPicPr>
          <p:nvPr/>
        </p:nvPicPr>
        <p:blipFill>
          <a:blip r:embed="rId3"/>
          <a:stretch>
            <a:fillRect/>
          </a:stretch>
        </p:blipFill>
        <p:spPr>
          <a:xfrm>
            <a:off x="5032653" y="2413516"/>
            <a:ext cx="4564975" cy="4564975"/>
          </a:xfrm>
          <a:prstGeom prst="rect">
            <a:avLst/>
          </a:prstGeom>
        </p:spPr>
      </p:pic>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26731" y="3218974"/>
            <a:ext cx="339328" cy="339328"/>
          </a:xfrm>
          <a:prstGeom prst="rect">
            <a:avLst/>
          </a:prstGeom>
        </p:spPr>
      </p:pic>
      <p:sp>
        <p:nvSpPr>
          <p:cNvPr id="7" name="Text 3"/>
          <p:cNvSpPr/>
          <p:nvPr/>
        </p:nvSpPr>
        <p:spPr>
          <a:xfrm>
            <a:off x="9937790" y="268009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Multitasking Abilities</a:t>
            </a:r>
            <a:endParaRPr lang="en-US" sz="2200" dirty="0"/>
          </a:p>
        </p:txBody>
      </p:sp>
      <p:sp>
        <p:nvSpPr>
          <p:cNvPr id="8" name="Text 4"/>
          <p:cNvSpPr/>
          <p:nvPr/>
        </p:nvSpPr>
        <p:spPr>
          <a:xfrm>
            <a:off x="9937790" y="3170515"/>
            <a:ext cx="3898821" cy="1088708"/>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Successfully managed multiple responsibilities and projects simultaneously.</a:t>
            </a:r>
            <a:endParaRPr lang="en-US" sz="1750" dirty="0"/>
          </a:p>
        </p:txBody>
      </p:sp>
      <p:pic>
        <p:nvPicPr>
          <p:cNvPr id="10" name="Image 3"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452604" y="3607475"/>
            <a:ext cx="339328" cy="339328"/>
          </a:xfrm>
          <a:prstGeom prst="rect">
            <a:avLst/>
          </a:prstGeom>
        </p:spPr>
      </p:pic>
      <p:sp>
        <p:nvSpPr>
          <p:cNvPr id="11" name="Text 5"/>
          <p:cNvSpPr/>
          <p:nvPr/>
        </p:nvSpPr>
        <p:spPr>
          <a:xfrm>
            <a:off x="9937790" y="5132665"/>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Quick Adaptation</a:t>
            </a:r>
            <a:endParaRPr lang="en-US" sz="2200" dirty="0"/>
          </a:p>
        </p:txBody>
      </p:sp>
      <p:sp>
        <p:nvSpPr>
          <p:cNvPr id="12" name="Text 6"/>
          <p:cNvSpPr/>
          <p:nvPr/>
        </p:nvSpPr>
        <p:spPr>
          <a:xfrm>
            <a:off x="9937790" y="5623084"/>
            <a:ext cx="3898821" cy="1088708"/>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Learned to quickly grasp new tools and technologies, integrating them into workflows.</a:t>
            </a:r>
            <a:endParaRPr lang="en-US" sz="1750" dirty="0"/>
          </a:p>
        </p:txBody>
      </p:sp>
      <p:pic>
        <p:nvPicPr>
          <p:cNvPr id="14" name="Image 5"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64103" y="5833348"/>
            <a:ext cx="339328" cy="339328"/>
          </a:xfrm>
          <a:prstGeom prst="rect">
            <a:avLst/>
          </a:prstGeom>
        </p:spPr>
      </p:pic>
      <p:sp>
        <p:nvSpPr>
          <p:cNvPr id="15" name="Text 7"/>
          <p:cNvSpPr/>
          <p:nvPr/>
        </p:nvSpPr>
        <p:spPr>
          <a:xfrm>
            <a:off x="1779151" y="5132665"/>
            <a:ext cx="2913340" cy="354330"/>
          </a:xfrm>
          <a:prstGeom prst="rect">
            <a:avLst/>
          </a:prstGeom>
          <a:noFill/>
          <a:ln/>
        </p:spPr>
        <p:txBody>
          <a:bodyPr wrap="none" lIns="0" tIns="0" rIns="0" bIns="0" rtlCol="0" anchor="t"/>
          <a:lstStyle/>
          <a:p>
            <a:pPr marL="0" indent="0" algn="r">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Independent Learning</a:t>
            </a:r>
            <a:endParaRPr lang="en-US" sz="2200" dirty="0"/>
          </a:p>
        </p:txBody>
      </p:sp>
      <p:sp>
        <p:nvSpPr>
          <p:cNvPr id="16" name="Text 8"/>
          <p:cNvSpPr/>
          <p:nvPr/>
        </p:nvSpPr>
        <p:spPr>
          <a:xfrm>
            <a:off x="793790" y="5623084"/>
            <a:ext cx="3898702" cy="1088708"/>
          </a:xfrm>
          <a:prstGeom prst="rect">
            <a:avLst/>
          </a:prstGeom>
          <a:noFill/>
          <a:ln/>
        </p:spPr>
        <p:txBody>
          <a:bodyPr wrap="square" lIns="0" tIns="0" rIns="0" bIns="0" rtlCol="0" anchor="t"/>
          <a:lstStyle/>
          <a:p>
            <a:pPr marL="0" indent="0" algn="r">
              <a:lnSpc>
                <a:spcPts val="2850"/>
              </a:lnSpc>
              <a:buNone/>
            </a:pPr>
            <a:r>
              <a:rPr lang="en-US" sz="1750" dirty="0">
                <a:solidFill>
                  <a:srgbClr val="39393C"/>
                </a:solidFill>
                <a:latin typeface="Open Sans" pitchFamily="34" charset="0"/>
                <a:ea typeface="Open Sans" pitchFamily="34" charset="-122"/>
                <a:cs typeface="Open Sans" pitchFamily="34" charset="-120"/>
              </a:rPr>
              <a:t>Cultivated a proactive approach to continuous learning and skill development.</a:t>
            </a:r>
            <a:endParaRPr lang="en-US" sz="1750" dirty="0"/>
          </a:p>
        </p:txBody>
      </p:sp>
      <p:pic>
        <p:nvPicPr>
          <p:cNvPr id="18" name="Image 7"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838230" y="5444847"/>
            <a:ext cx="339328" cy="33932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689378"/>
            <a:ext cx="10549771" cy="708779"/>
          </a:xfrm>
          <a:prstGeom prst="rect">
            <a:avLst/>
          </a:prstGeom>
          <a:noFill/>
          <a:ln/>
        </p:spPr>
        <p:txBody>
          <a:bodyPr wrap="none" lIns="0" tIns="0" rIns="0" bIns="0" rtlCol="0" anchor="t"/>
          <a:lstStyle/>
          <a:p>
            <a:pPr marL="0" indent="0" algn="l">
              <a:lnSpc>
                <a:spcPts val="5550"/>
              </a:lnSpc>
              <a:buNone/>
            </a:pPr>
            <a:r>
              <a:rPr lang="en-US" sz="4450" b="1" dirty="0">
                <a:solidFill>
                  <a:srgbClr val="101014"/>
                </a:solidFill>
                <a:latin typeface="Playfair Display Bold" pitchFamily="34" charset="0"/>
                <a:ea typeface="Playfair Display Bold" pitchFamily="34" charset="-122"/>
                <a:cs typeface="Playfair Display Bold" pitchFamily="34" charset="-120"/>
              </a:rPr>
              <a:t>Logs 7–10: Technical Skills Development</a:t>
            </a:r>
            <a:endParaRPr lang="en-US" sz="4450" dirty="0"/>
          </a:p>
        </p:txBody>
      </p:sp>
      <p:sp>
        <p:nvSpPr>
          <p:cNvPr id="3" name="Shape 1"/>
          <p:cNvSpPr/>
          <p:nvPr/>
        </p:nvSpPr>
        <p:spPr>
          <a:xfrm>
            <a:off x="793790" y="2851785"/>
            <a:ext cx="6407944" cy="1730812"/>
          </a:xfrm>
          <a:prstGeom prst="roundRect">
            <a:avLst>
              <a:gd name="adj" fmla="val 8453"/>
            </a:avLst>
          </a:prstGeom>
          <a:solidFill>
            <a:srgbClr val="F3F3F7"/>
          </a:solidFill>
          <a:ln w="30480">
            <a:solidFill>
              <a:srgbClr val="C6C6D2"/>
            </a:solidFill>
            <a:prstDash val="solid"/>
          </a:ln>
        </p:spPr>
        <p:txBody>
          <a:bodyPr/>
          <a:lstStyle/>
          <a:p>
            <a:endParaRPr lang="en-US"/>
          </a:p>
        </p:txBody>
      </p:sp>
      <p:sp>
        <p:nvSpPr>
          <p:cNvPr id="4" name="Shape 2"/>
          <p:cNvSpPr/>
          <p:nvPr/>
        </p:nvSpPr>
        <p:spPr>
          <a:xfrm>
            <a:off x="763310" y="2851785"/>
            <a:ext cx="121920" cy="1730812"/>
          </a:xfrm>
          <a:prstGeom prst="roundRect">
            <a:avLst>
              <a:gd name="adj" fmla="val 27907"/>
            </a:avLst>
          </a:prstGeom>
          <a:solidFill>
            <a:srgbClr val="101014"/>
          </a:solidFill>
          <a:ln/>
        </p:spPr>
        <p:txBody>
          <a:bodyPr/>
          <a:lstStyle/>
          <a:p>
            <a:endParaRPr lang="en-US"/>
          </a:p>
        </p:txBody>
      </p:sp>
      <p:sp>
        <p:nvSpPr>
          <p:cNvPr id="5" name="Text 3"/>
          <p:cNvSpPr/>
          <p:nvPr/>
        </p:nvSpPr>
        <p:spPr>
          <a:xfrm>
            <a:off x="1142524" y="3109079"/>
            <a:ext cx="3928110"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Camera Security Management</a:t>
            </a:r>
            <a:endParaRPr lang="en-US" sz="2200" dirty="0"/>
          </a:p>
        </p:txBody>
      </p:sp>
      <p:sp>
        <p:nvSpPr>
          <p:cNvPr id="6" name="Text 4"/>
          <p:cNvSpPr/>
          <p:nvPr/>
        </p:nvSpPr>
        <p:spPr>
          <a:xfrm>
            <a:off x="1142524" y="3599497"/>
            <a:ext cx="5801916" cy="725805"/>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Gained hands-on experience in the installation and configuration of CCTV systems.</a:t>
            </a:r>
            <a:endParaRPr lang="en-US" sz="1750" dirty="0"/>
          </a:p>
        </p:txBody>
      </p:sp>
      <p:sp>
        <p:nvSpPr>
          <p:cNvPr id="7" name="Shape 5"/>
          <p:cNvSpPr/>
          <p:nvPr/>
        </p:nvSpPr>
        <p:spPr>
          <a:xfrm>
            <a:off x="7428548" y="2851785"/>
            <a:ext cx="6408063" cy="1730812"/>
          </a:xfrm>
          <a:prstGeom prst="roundRect">
            <a:avLst>
              <a:gd name="adj" fmla="val 8453"/>
            </a:avLst>
          </a:prstGeom>
          <a:solidFill>
            <a:srgbClr val="F3F3F7"/>
          </a:solidFill>
          <a:ln w="30480">
            <a:solidFill>
              <a:srgbClr val="C6C6D2"/>
            </a:solidFill>
            <a:prstDash val="solid"/>
          </a:ln>
        </p:spPr>
        <p:txBody>
          <a:bodyPr/>
          <a:lstStyle/>
          <a:p>
            <a:endParaRPr lang="en-US"/>
          </a:p>
        </p:txBody>
      </p:sp>
      <p:sp>
        <p:nvSpPr>
          <p:cNvPr id="8" name="Shape 6"/>
          <p:cNvSpPr/>
          <p:nvPr/>
        </p:nvSpPr>
        <p:spPr>
          <a:xfrm>
            <a:off x="7398067" y="2851785"/>
            <a:ext cx="121920" cy="1730812"/>
          </a:xfrm>
          <a:prstGeom prst="roundRect">
            <a:avLst>
              <a:gd name="adj" fmla="val 27907"/>
            </a:avLst>
          </a:prstGeom>
          <a:solidFill>
            <a:srgbClr val="101014"/>
          </a:solidFill>
          <a:ln/>
        </p:spPr>
        <p:txBody>
          <a:bodyPr/>
          <a:lstStyle/>
          <a:p>
            <a:endParaRPr lang="en-US"/>
          </a:p>
        </p:txBody>
      </p:sp>
      <p:sp>
        <p:nvSpPr>
          <p:cNvPr id="9" name="Text 7"/>
          <p:cNvSpPr/>
          <p:nvPr/>
        </p:nvSpPr>
        <p:spPr>
          <a:xfrm>
            <a:off x="7777282" y="3109079"/>
            <a:ext cx="4350663"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System &amp; Network Configuration</a:t>
            </a:r>
            <a:endParaRPr lang="en-US" sz="2200" dirty="0"/>
          </a:p>
        </p:txBody>
      </p:sp>
      <p:sp>
        <p:nvSpPr>
          <p:cNvPr id="10" name="Text 8"/>
          <p:cNvSpPr/>
          <p:nvPr/>
        </p:nvSpPr>
        <p:spPr>
          <a:xfrm>
            <a:off x="7777282" y="3599497"/>
            <a:ext cx="5802035" cy="725805"/>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Proficiently configured and maintained various network devices and operating systems.</a:t>
            </a:r>
            <a:endParaRPr lang="en-US" sz="1750" dirty="0"/>
          </a:p>
        </p:txBody>
      </p:sp>
      <p:sp>
        <p:nvSpPr>
          <p:cNvPr id="11" name="Shape 9"/>
          <p:cNvSpPr/>
          <p:nvPr/>
        </p:nvSpPr>
        <p:spPr>
          <a:xfrm>
            <a:off x="793790" y="4809411"/>
            <a:ext cx="6407944" cy="1730812"/>
          </a:xfrm>
          <a:prstGeom prst="roundRect">
            <a:avLst>
              <a:gd name="adj" fmla="val 8453"/>
            </a:avLst>
          </a:prstGeom>
          <a:solidFill>
            <a:srgbClr val="F3F3F7"/>
          </a:solidFill>
          <a:ln w="30480">
            <a:solidFill>
              <a:srgbClr val="C6C6D2"/>
            </a:solidFill>
            <a:prstDash val="solid"/>
          </a:ln>
        </p:spPr>
        <p:txBody>
          <a:bodyPr/>
          <a:lstStyle/>
          <a:p>
            <a:endParaRPr lang="en-US"/>
          </a:p>
        </p:txBody>
      </p:sp>
      <p:sp>
        <p:nvSpPr>
          <p:cNvPr id="12" name="Shape 10"/>
          <p:cNvSpPr/>
          <p:nvPr/>
        </p:nvSpPr>
        <p:spPr>
          <a:xfrm>
            <a:off x="763310" y="4809411"/>
            <a:ext cx="121920" cy="1730812"/>
          </a:xfrm>
          <a:prstGeom prst="roundRect">
            <a:avLst>
              <a:gd name="adj" fmla="val 27907"/>
            </a:avLst>
          </a:prstGeom>
          <a:solidFill>
            <a:srgbClr val="101014"/>
          </a:solidFill>
          <a:ln/>
        </p:spPr>
        <p:txBody>
          <a:bodyPr/>
          <a:lstStyle/>
          <a:p>
            <a:endParaRPr lang="en-US"/>
          </a:p>
        </p:txBody>
      </p:sp>
      <p:sp>
        <p:nvSpPr>
          <p:cNvPr id="13" name="Text 11"/>
          <p:cNvSpPr/>
          <p:nvPr/>
        </p:nvSpPr>
        <p:spPr>
          <a:xfrm>
            <a:off x="1142524" y="5066705"/>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Structured Cabling</a:t>
            </a:r>
            <a:endParaRPr lang="en-US" sz="2200" dirty="0"/>
          </a:p>
        </p:txBody>
      </p:sp>
      <p:sp>
        <p:nvSpPr>
          <p:cNvPr id="14" name="Text 12"/>
          <p:cNvSpPr/>
          <p:nvPr/>
        </p:nvSpPr>
        <p:spPr>
          <a:xfrm>
            <a:off x="1142524" y="5557123"/>
            <a:ext cx="5801916" cy="725805"/>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Developed practical skills in implementing organized and efficient cabling solutions.</a:t>
            </a:r>
            <a:endParaRPr lang="en-US" sz="1750" dirty="0"/>
          </a:p>
        </p:txBody>
      </p:sp>
      <p:sp>
        <p:nvSpPr>
          <p:cNvPr id="15" name="Shape 13"/>
          <p:cNvSpPr/>
          <p:nvPr/>
        </p:nvSpPr>
        <p:spPr>
          <a:xfrm>
            <a:off x="7428548" y="4809411"/>
            <a:ext cx="6408063" cy="1730812"/>
          </a:xfrm>
          <a:prstGeom prst="roundRect">
            <a:avLst>
              <a:gd name="adj" fmla="val 8453"/>
            </a:avLst>
          </a:prstGeom>
          <a:solidFill>
            <a:srgbClr val="F3F3F7"/>
          </a:solidFill>
          <a:ln w="30480">
            <a:solidFill>
              <a:srgbClr val="C6C6D2"/>
            </a:solidFill>
            <a:prstDash val="solid"/>
          </a:ln>
        </p:spPr>
        <p:txBody>
          <a:bodyPr/>
          <a:lstStyle/>
          <a:p>
            <a:endParaRPr lang="en-US"/>
          </a:p>
        </p:txBody>
      </p:sp>
      <p:sp>
        <p:nvSpPr>
          <p:cNvPr id="16" name="Shape 14"/>
          <p:cNvSpPr/>
          <p:nvPr/>
        </p:nvSpPr>
        <p:spPr>
          <a:xfrm>
            <a:off x="7398067" y="4809411"/>
            <a:ext cx="121920" cy="1730812"/>
          </a:xfrm>
          <a:prstGeom prst="roundRect">
            <a:avLst>
              <a:gd name="adj" fmla="val 27907"/>
            </a:avLst>
          </a:prstGeom>
          <a:solidFill>
            <a:srgbClr val="101014"/>
          </a:solidFill>
          <a:ln/>
        </p:spPr>
        <p:txBody>
          <a:bodyPr/>
          <a:lstStyle/>
          <a:p>
            <a:endParaRPr lang="en-US"/>
          </a:p>
        </p:txBody>
      </p:sp>
      <p:sp>
        <p:nvSpPr>
          <p:cNvPr id="17" name="Text 15"/>
          <p:cNvSpPr/>
          <p:nvPr/>
        </p:nvSpPr>
        <p:spPr>
          <a:xfrm>
            <a:off x="7777282" y="5066705"/>
            <a:ext cx="4816197"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Hardware/Software Troubleshooting</a:t>
            </a:r>
            <a:endParaRPr lang="en-US" sz="2200" dirty="0"/>
          </a:p>
        </p:txBody>
      </p:sp>
      <p:sp>
        <p:nvSpPr>
          <p:cNvPr id="18" name="Text 16"/>
          <p:cNvSpPr/>
          <p:nvPr/>
        </p:nvSpPr>
        <p:spPr>
          <a:xfrm>
            <a:off x="7777282" y="5557123"/>
            <a:ext cx="5802035" cy="725805"/>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Enhanced problem-solving capabilities for diagnosing and repairing IT infrastructure issues.</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6280190" y="2328624"/>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101014"/>
                </a:solidFill>
                <a:latin typeface="Playfair Display Bold" pitchFamily="34" charset="0"/>
                <a:ea typeface="Playfair Display Bold" pitchFamily="34" charset="-122"/>
                <a:cs typeface="Playfair Display Bold" pitchFamily="34" charset="-120"/>
              </a:rPr>
              <a:t>Conclusion: A Transformative Experience</a:t>
            </a:r>
            <a:endParaRPr lang="en-US" sz="4450" dirty="0"/>
          </a:p>
        </p:txBody>
      </p:sp>
      <p:sp>
        <p:nvSpPr>
          <p:cNvPr id="4" name="Text 1"/>
          <p:cNvSpPr/>
          <p:nvPr/>
        </p:nvSpPr>
        <p:spPr>
          <a:xfrm>
            <a:off x="6280190" y="4086344"/>
            <a:ext cx="7556421" cy="1814513"/>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The internship was an invaluable bridge between academic theory and real-world application. It significantly enhanced my technical competence, refined my communication skills, and boosted my professional confidence. This experience has firmly prepared me for future challenges and roles within the dynamic IT industry.</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2042874" y="467320"/>
            <a:ext cx="6252210" cy="477560"/>
          </a:xfrm>
          <a:prstGeom prst="rect">
            <a:avLst/>
          </a:prstGeom>
          <a:noFill/>
          <a:ln/>
        </p:spPr>
        <p:txBody>
          <a:bodyPr wrap="none" lIns="0" tIns="0" rIns="0" bIns="0" rtlCol="0" anchor="t"/>
          <a:lstStyle/>
          <a:p>
            <a:pPr marL="0" indent="0" algn="l">
              <a:lnSpc>
                <a:spcPts val="3750"/>
              </a:lnSpc>
              <a:buNone/>
            </a:pPr>
            <a:r>
              <a:rPr lang="en-US" sz="3000" b="1" dirty="0">
                <a:solidFill>
                  <a:srgbClr val="101014"/>
                </a:solidFill>
                <a:latin typeface="Playfair Display Bold" pitchFamily="34" charset="0"/>
                <a:ea typeface="Playfair Display Bold" pitchFamily="34" charset="-122"/>
                <a:cs typeface="Playfair Display Bold" pitchFamily="34" charset="-120"/>
              </a:rPr>
              <a:t>Future Plans: Building an IT Career</a:t>
            </a:r>
            <a:endParaRPr lang="en-US" sz="3000" dirty="0"/>
          </a:p>
        </p:txBody>
      </p:sp>
      <p:sp>
        <p:nvSpPr>
          <p:cNvPr id="3" name="Shape 1"/>
          <p:cNvSpPr/>
          <p:nvPr/>
        </p:nvSpPr>
        <p:spPr>
          <a:xfrm>
            <a:off x="1932861" y="1099304"/>
            <a:ext cx="5306020" cy="6662976"/>
          </a:xfrm>
          <a:prstGeom prst="roundRect">
            <a:avLst>
              <a:gd name="adj" fmla="val 432"/>
            </a:avLst>
          </a:prstGeom>
          <a:solidFill>
            <a:srgbClr val="101014"/>
          </a:solidFill>
          <a:ln/>
        </p:spPr>
        <p:txBody>
          <a:bodyPr/>
          <a:lstStyle/>
          <a:p>
            <a:endParaRPr lang="en-US"/>
          </a:p>
        </p:txBody>
      </p:sp>
      <p:sp>
        <p:nvSpPr>
          <p:cNvPr id="4" name="Text 2"/>
          <p:cNvSpPr/>
          <p:nvPr/>
        </p:nvSpPr>
        <p:spPr>
          <a:xfrm>
            <a:off x="2085618" y="1202174"/>
            <a:ext cx="2687122" cy="238720"/>
          </a:xfrm>
          <a:prstGeom prst="rect">
            <a:avLst/>
          </a:prstGeom>
          <a:noFill/>
          <a:ln/>
        </p:spPr>
        <p:txBody>
          <a:bodyPr wrap="none" lIns="0" tIns="0" rIns="0" bIns="0" rtlCol="0" anchor="t"/>
          <a:lstStyle/>
          <a:p>
            <a:pPr marL="0" indent="0" algn="l">
              <a:lnSpc>
                <a:spcPts val="1850"/>
              </a:lnSpc>
              <a:buNone/>
            </a:pPr>
            <a:r>
              <a:rPr lang="en-US" sz="1500" b="1" dirty="0">
                <a:solidFill>
                  <a:srgbClr val="FFFFFF"/>
                </a:solidFill>
                <a:latin typeface="Playfair Display Bold" pitchFamily="34" charset="0"/>
                <a:ea typeface="Playfair Display Bold" pitchFamily="34" charset="-122"/>
                <a:cs typeface="Playfair Display Bold" pitchFamily="34" charset="-120"/>
              </a:rPr>
              <a:t>Continuous Skill Development</a:t>
            </a:r>
            <a:endParaRPr lang="en-US" sz="1500" dirty="0"/>
          </a:p>
        </p:txBody>
      </p:sp>
      <p:sp>
        <p:nvSpPr>
          <p:cNvPr id="5" name="Text 3"/>
          <p:cNvSpPr/>
          <p:nvPr/>
        </p:nvSpPr>
        <p:spPr>
          <a:xfrm>
            <a:off x="2085618" y="1543764"/>
            <a:ext cx="5000506" cy="614005"/>
          </a:xfrm>
          <a:prstGeom prst="rect">
            <a:avLst/>
          </a:prstGeom>
          <a:noFill/>
          <a:ln/>
        </p:spPr>
        <p:txBody>
          <a:bodyPr wrap="square" lIns="0" tIns="0" rIns="0" bIns="0" rtlCol="0" anchor="t"/>
          <a:lstStyle/>
          <a:p>
            <a:pPr marL="0" indent="0" algn="l">
              <a:lnSpc>
                <a:spcPts val="1600"/>
              </a:lnSpc>
              <a:buNone/>
            </a:pPr>
            <a:r>
              <a:rPr lang="en-US" sz="1200" dirty="0">
                <a:solidFill>
                  <a:srgbClr val="FFFFFF"/>
                </a:solidFill>
                <a:latin typeface="Open Sans" pitchFamily="34" charset="0"/>
                <a:ea typeface="Open Sans" pitchFamily="34" charset="-122"/>
                <a:cs typeface="Open Sans" pitchFamily="34" charset="-120"/>
              </a:rPr>
              <a:t>I am committed to advancing my expertise in networking, system security, and IT support through ongoing learning and professional certifications.</a:t>
            </a:r>
            <a:endParaRPr lang="en-US" sz="1200" dirty="0"/>
          </a:p>
        </p:txBody>
      </p:sp>
      <p:sp>
        <p:nvSpPr>
          <p:cNvPr id="6" name="Text 4"/>
          <p:cNvSpPr/>
          <p:nvPr/>
        </p:nvSpPr>
        <p:spPr>
          <a:xfrm>
            <a:off x="2085618" y="2250400"/>
            <a:ext cx="5000506" cy="409337"/>
          </a:xfrm>
          <a:prstGeom prst="rect">
            <a:avLst/>
          </a:prstGeom>
          <a:noFill/>
          <a:ln/>
        </p:spPr>
        <p:txBody>
          <a:bodyPr wrap="square" lIns="0" tIns="0" rIns="0" bIns="0" rtlCol="0" anchor="t"/>
          <a:lstStyle/>
          <a:p>
            <a:pPr marL="0" indent="0" algn="l">
              <a:lnSpc>
                <a:spcPts val="1600"/>
              </a:lnSpc>
              <a:buNone/>
            </a:pPr>
            <a:r>
              <a:rPr lang="en-US" sz="1200" dirty="0">
                <a:solidFill>
                  <a:srgbClr val="FFFFFF"/>
                </a:solidFill>
                <a:latin typeface="Open Sans" pitchFamily="34" charset="0"/>
                <a:ea typeface="Open Sans" pitchFamily="34" charset="-122"/>
                <a:cs typeface="Open Sans" pitchFamily="34" charset="-120"/>
              </a:rPr>
              <a:t>My goal is to obtain industry-recognized certifications like CompTIA Security+ and Cisco CCNA.</a:t>
            </a:r>
            <a:endParaRPr lang="en-US" sz="1200" dirty="0"/>
          </a:p>
        </p:txBody>
      </p:sp>
      <p:sp>
        <p:nvSpPr>
          <p:cNvPr id="8" name="Text 5"/>
          <p:cNvSpPr/>
          <p:nvPr/>
        </p:nvSpPr>
        <p:spPr>
          <a:xfrm>
            <a:off x="7509153" y="6416754"/>
            <a:ext cx="2102287" cy="238720"/>
          </a:xfrm>
          <a:prstGeom prst="rect">
            <a:avLst/>
          </a:prstGeom>
          <a:noFill/>
          <a:ln/>
        </p:spPr>
        <p:txBody>
          <a:bodyPr wrap="none" lIns="0" tIns="0" rIns="0" bIns="0" rtlCol="0" anchor="t"/>
          <a:lstStyle/>
          <a:p>
            <a:pPr marL="0" indent="0" algn="l">
              <a:lnSpc>
                <a:spcPts val="1850"/>
              </a:lnSpc>
              <a:buNone/>
            </a:pPr>
            <a:r>
              <a:rPr lang="en-US" sz="1500" b="1" dirty="0">
                <a:solidFill>
                  <a:srgbClr val="101014"/>
                </a:solidFill>
                <a:latin typeface="Playfair Display Bold" pitchFamily="34" charset="0"/>
                <a:ea typeface="Playfair Display Bold" pitchFamily="34" charset="-122"/>
                <a:cs typeface="Playfair Display Bold" pitchFamily="34" charset="-120"/>
              </a:rPr>
              <a:t>Career in Cybersecurity</a:t>
            </a:r>
            <a:endParaRPr lang="en-US" sz="1500" dirty="0"/>
          </a:p>
        </p:txBody>
      </p:sp>
      <p:sp>
        <p:nvSpPr>
          <p:cNvPr id="9" name="Text 6"/>
          <p:cNvSpPr/>
          <p:nvPr/>
        </p:nvSpPr>
        <p:spPr>
          <a:xfrm>
            <a:off x="7509153" y="6758345"/>
            <a:ext cx="5085993" cy="409337"/>
          </a:xfrm>
          <a:prstGeom prst="rect">
            <a:avLst/>
          </a:prstGeom>
          <a:noFill/>
          <a:ln/>
        </p:spPr>
        <p:txBody>
          <a:bodyPr wrap="square" lIns="0" tIns="0" rIns="0" bIns="0" rtlCol="0" anchor="t"/>
          <a:lstStyle/>
          <a:p>
            <a:pPr marL="0" indent="0" algn="l">
              <a:lnSpc>
                <a:spcPts val="1600"/>
              </a:lnSpc>
              <a:buNone/>
            </a:pPr>
            <a:r>
              <a:rPr lang="en-US" sz="1200" dirty="0">
                <a:solidFill>
                  <a:srgbClr val="39393C"/>
                </a:solidFill>
                <a:latin typeface="Open Sans" pitchFamily="34" charset="0"/>
                <a:ea typeface="Open Sans" pitchFamily="34" charset="-122"/>
                <a:cs typeface="Open Sans" pitchFamily="34" charset="-120"/>
              </a:rPr>
              <a:t>My long-term aspiration is to build a successful career in cybersecurity and information security, protecting critical digital assets.</a:t>
            </a:r>
            <a:endParaRPr lang="en-US" sz="1200" dirty="0"/>
          </a:p>
        </p:txBody>
      </p:sp>
      <p:sp>
        <p:nvSpPr>
          <p:cNvPr id="10" name="Text 7"/>
          <p:cNvSpPr/>
          <p:nvPr/>
        </p:nvSpPr>
        <p:spPr>
          <a:xfrm>
            <a:off x="7509153" y="7260312"/>
            <a:ext cx="5085993" cy="409337"/>
          </a:xfrm>
          <a:prstGeom prst="rect">
            <a:avLst/>
          </a:prstGeom>
          <a:noFill/>
          <a:ln/>
        </p:spPr>
        <p:txBody>
          <a:bodyPr wrap="square" lIns="0" tIns="0" rIns="0" bIns="0" rtlCol="0" anchor="t"/>
          <a:lstStyle/>
          <a:p>
            <a:pPr marL="0" indent="0" algn="l">
              <a:lnSpc>
                <a:spcPts val="1600"/>
              </a:lnSpc>
              <a:buNone/>
            </a:pPr>
            <a:r>
              <a:rPr lang="en-US" sz="1200" dirty="0">
                <a:solidFill>
                  <a:srgbClr val="39393C"/>
                </a:solidFill>
                <a:latin typeface="Open Sans" pitchFamily="34" charset="0"/>
                <a:ea typeface="Open Sans" pitchFamily="34" charset="-122"/>
                <a:cs typeface="Open Sans" pitchFamily="34" charset="-120"/>
              </a:rPr>
              <a:t>I will also focus on enhancing my communication, leadership, and advanced problem-solving abilities to thrive in a leadership role.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607</Words>
  <Application>Microsoft Office PowerPoint</Application>
  <PresentationFormat>Custom</PresentationFormat>
  <Paragraphs>79</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Playfair Display Light</vt:lpstr>
      <vt:lpstr>Open Sans</vt:lpstr>
      <vt:lpstr>Arial</vt:lpstr>
      <vt:lpstr>Playfair Display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Tapendra Singh</dc:creator>
  <cp:lastModifiedBy>Tapendra Singh</cp:lastModifiedBy>
  <cp:revision>3</cp:revision>
  <dcterms:created xsi:type="dcterms:W3CDTF">2026-01-28T06:44:27Z</dcterms:created>
  <dcterms:modified xsi:type="dcterms:W3CDTF">2026-01-28T07:23:18Z</dcterms:modified>
</cp:coreProperties>
</file>