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Open Sans" panose="020B0606030504020204" pitchFamily="34" charset="0"/>
      <p:regular r:id="rId13"/>
    </p:embeddedFont>
    <p:embeddedFont>
      <p:font typeface="Playfair Display" panose="020F0502020204030204" pitchFamily="2" charset="0"/>
      <p:regular r:id="rId14"/>
    </p:embeddedFont>
    <p:embeddedFont>
      <p:font typeface="Playfair Display Bold"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3" d="100"/>
          <a:sy n="53" d="100"/>
        </p:scale>
        <p:origin x="140"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28.01.2026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C0C0E"/>
            </a:solidFill>
            <a:ln w="12700">
              <a:solidFill>
                <a:srgbClr val="000000"/>
              </a:solidFill>
            </a:ln>
          </p:spPr>
          <p:txBody>
            <a:bodyPr/>
            <a:lstStyle/>
            <a:p>
              <a:endParaRPr lang="en-US"/>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3F3F7"/>
            </a:solidFill>
            <a:ln w="12700">
              <a:solidFill>
                <a:srgbClr val="000000"/>
              </a:solidFill>
            </a:ln>
          </p:spPr>
          <p:txBody>
            <a:bodyPr/>
            <a:lstStyle/>
            <a:p>
              <a:endParaRPr lang="en-US"/>
            </a:p>
          </p:txBody>
        </p:sp>
      </p:grpSp>
      <p:sp>
        <p:nvSpPr>
          <p:cNvPr id="6" name="TextBox 6"/>
          <p:cNvSpPr txBox="1"/>
          <p:nvPr/>
        </p:nvSpPr>
        <p:spPr>
          <a:xfrm>
            <a:off x="992238" y="3552082"/>
            <a:ext cx="9245356" cy="914552"/>
          </a:xfrm>
          <a:prstGeom prst="rect">
            <a:avLst/>
          </a:prstGeom>
        </p:spPr>
        <p:txBody>
          <a:bodyPr lIns="0" tIns="0" rIns="0" bIns="0" rtlCol="0" anchor="t">
            <a:spAutoFit/>
          </a:bodyPr>
          <a:lstStyle/>
          <a:p>
            <a:pPr algn="l">
              <a:lnSpc>
                <a:spcPts val="6937"/>
              </a:lnSpc>
            </a:pPr>
            <a:r>
              <a:rPr lang="en-US" sz="5562" b="1">
                <a:solidFill>
                  <a:srgbClr val="101014"/>
                </a:solidFill>
                <a:latin typeface="Playfair Display Bold"/>
                <a:ea typeface="Playfair Display Bold"/>
                <a:cs typeface="Playfair Display Bold"/>
                <a:sym typeface="Playfair Display Bold"/>
              </a:rPr>
              <a:t>Internship Report Summary</a:t>
            </a:r>
          </a:p>
        </p:txBody>
      </p:sp>
      <p:sp>
        <p:nvSpPr>
          <p:cNvPr id="7" name="TextBox 7"/>
          <p:cNvSpPr txBox="1"/>
          <p:nvPr/>
        </p:nvSpPr>
        <p:spPr>
          <a:xfrm>
            <a:off x="992238" y="4806105"/>
            <a:ext cx="9445523" cy="1900237"/>
          </a:xfrm>
          <a:prstGeom prst="rect">
            <a:avLst/>
          </a:prstGeom>
        </p:spPr>
        <p:txBody>
          <a:bodyPr lIns="0" tIns="0" rIns="0" bIns="0" rtlCol="0" anchor="t">
            <a:spAutoFit/>
          </a:bodyPr>
          <a:lstStyle/>
          <a:p>
            <a:pPr algn="l">
              <a:lnSpc>
                <a:spcPts val="3562"/>
              </a:lnSpc>
            </a:pPr>
            <a:r>
              <a:rPr lang="en-US" sz="2187">
                <a:solidFill>
                  <a:srgbClr val="39393C"/>
                </a:solidFill>
                <a:latin typeface="Open Sans"/>
                <a:ea typeface="Open Sans"/>
                <a:cs typeface="Open Sans"/>
                <a:sym typeface="Open Sans"/>
              </a:rPr>
              <a:t>This presentation summarizes my main internship report, highlighting the knowledge, skills, and professional experience gained. It reflects my learning journey, practical involvement, and personal development through real workplace exposure in IT and networking.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C0C0E"/>
            </a:solidFill>
            <a:ln w="12700">
              <a:solidFill>
                <a:srgbClr val="000000"/>
              </a:solidFill>
            </a:ln>
          </p:spPr>
          <p:txBody>
            <a:bodyPr/>
            <a:lstStyle/>
            <a:p>
              <a:endParaRPr lang="en-US"/>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3F3F7"/>
            </a:solidFill>
            <a:ln w="12700">
              <a:solidFill>
                <a:srgbClr val="000000"/>
              </a:solidFill>
            </a:ln>
          </p:spPr>
          <p:txBody>
            <a:bodyPr/>
            <a:lstStyle/>
            <a:p>
              <a:endParaRPr lang="en-US"/>
            </a:p>
          </p:txBody>
        </p:sp>
      </p:grpSp>
      <p:sp>
        <p:nvSpPr>
          <p:cNvPr id="6" name="TextBox 6"/>
          <p:cNvSpPr txBox="1"/>
          <p:nvPr/>
        </p:nvSpPr>
        <p:spPr>
          <a:xfrm>
            <a:off x="992238" y="2078984"/>
            <a:ext cx="7088238" cy="914552"/>
          </a:xfrm>
          <a:prstGeom prst="rect">
            <a:avLst/>
          </a:prstGeom>
        </p:spPr>
        <p:txBody>
          <a:bodyPr lIns="0" tIns="0" rIns="0" bIns="0" rtlCol="0" anchor="t">
            <a:spAutoFit/>
          </a:bodyPr>
          <a:lstStyle/>
          <a:p>
            <a:pPr algn="l">
              <a:lnSpc>
                <a:spcPts val="6937"/>
              </a:lnSpc>
            </a:pPr>
            <a:r>
              <a:rPr lang="en-US" sz="5562" b="1">
                <a:solidFill>
                  <a:srgbClr val="101014"/>
                </a:solidFill>
                <a:latin typeface="Playfair Display Bold"/>
                <a:ea typeface="Playfair Display Bold"/>
                <a:cs typeface="Playfair Display Bold"/>
                <a:sym typeface="Playfair Display Bold"/>
              </a:rPr>
              <a:t>Presentation Agenda</a:t>
            </a:r>
          </a:p>
        </p:txBody>
      </p:sp>
      <p:sp>
        <p:nvSpPr>
          <p:cNvPr id="7" name="TextBox 7"/>
          <p:cNvSpPr txBox="1"/>
          <p:nvPr/>
        </p:nvSpPr>
        <p:spPr>
          <a:xfrm>
            <a:off x="992238" y="3474834"/>
            <a:ext cx="283521" cy="440084"/>
          </a:xfrm>
          <a:prstGeom prst="rect">
            <a:avLst/>
          </a:prstGeom>
        </p:spPr>
        <p:txBody>
          <a:bodyPr lIns="0" tIns="0" rIns="0" bIns="0" rtlCol="0" anchor="t">
            <a:spAutoFit/>
          </a:bodyPr>
          <a:lstStyle/>
          <a:p>
            <a:pPr algn="l">
              <a:lnSpc>
                <a:spcPts val="3562"/>
              </a:lnSpc>
            </a:pPr>
            <a:r>
              <a:rPr lang="en-US" sz="2187">
                <a:solidFill>
                  <a:srgbClr val="39393C"/>
                </a:solidFill>
                <a:latin typeface="Playfair Display"/>
                <a:ea typeface="Playfair Display"/>
                <a:cs typeface="Playfair Display"/>
                <a:sym typeface="Playfair Display"/>
              </a:rPr>
              <a:t>01</a:t>
            </a:r>
          </a:p>
        </p:txBody>
      </p:sp>
      <p:grpSp>
        <p:nvGrpSpPr>
          <p:cNvPr id="8" name="Group 8"/>
          <p:cNvGrpSpPr/>
          <p:nvPr/>
        </p:nvGrpSpPr>
        <p:grpSpPr>
          <a:xfrm>
            <a:off x="992238" y="4004367"/>
            <a:ext cx="5245446" cy="38100"/>
            <a:chOff x="0" y="0"/>
            <a:chExt cx="6993928" cy="50800"/>
          </a:xfrm>
        </p:grpSpPr>
        <p:sp>
          <p:nvSpPr>
            <p:cNvPr id="9" name="Freeform 9"/>
            <p:cNvSpPr/>
            <p:nvPr/>
          </p:nvSpPr>
          <p:spPr>
            <a:xfrm>
              <a:off x="0" y="0"/>
              <a:ext cx="6993890" cy="50800"/>
            </a:xfrm>
            <a:custGeom>
              <a:avLst/>
              <a:gdLst/>
              <a:ahLst/>
              <a:cxnLst/>
              <a:rect l="l" t="t" r="r" b="b"/>
              <a:pathLst>
                <a:path w="6993890" h="50800">
                  <a:moveTo>
                    <a:pt x="0" y="0"/>
                  </a:moveTo>
                  <a:lnTo>
                    <a:pt x="6993890" y="0"/>
                  </a:lnTo>
                  <a:lnTo>
                    <a:pt x="6993890" y="50800"/>
                  </a:lnTo>
                  <a:lnTo>
                    <a:pt x="0" y="50800"/>
                  </a:lnTo>
                  <a:close/>
                </a:path>
              </a:pathLst>
            </a:custGeom>
            <a:solidFill>
              <a:srgbClr val="101014"/>
            </a:solidFill>
            <a:ln w="12700">
              <a:solidFill>
                <a:srgbClr val="000000"/>
              </a:solidFill>
            </a:ln>
          </p:spPr>
          <p:txBody>
            <a:bodyPr/>
            <a:lstStyle/>
            <a:p>
              <a:endParaRPr lang="en-US"/>
            </a:p>
          </p:txBody>
        </p:sp>
      </p:grpSp>
      <p:sp>
        <p:nvSpPr>
          <p:cNvPr id="10" name="TextBox 10"/>
          <p:cNvSpPr txBox="1"/>
          <p:nvPr/>
        </p:nvSpPr>
        <p:spPr>
          <a:xfrm>
            <a:off x="992238" y="4203202"/>
            <a:ext cx="3544043" cy="461962"/>
          </a:xfrm>
          <a:prstGeom prst="rect">
            <a:avLst/>
          </a:prstGeom>
        </p:spPr>
        <p:txBody>
          <a:bodyPr lIns="0" tIns="0" rIns="0" bIns="0" rtlCol="0" anchor="t">
            <a:spAutoFit/>
          </a:bodyPr>
          <a:lstStyle/>
          <a:p>
            <a:pPr algn="l">
              <a:lnSpc>
                <a:spcPts val="3437"/>
              </a:lnSpc>
            </a:pPr>
            <a:r>
              <a:rPr lang="en-US" sz="2750" b="1">
                <a:solidFill>
                  <a:srgbClr val="39393C"/>
                </a:solidFill>
                <a:latin typeface="Playfair Display Bold"/>
                <a:ea typeface="Playfair Display Bold"/>
                <a:cs typeface="Playfair Display Bold"/>
                <a:sym typeface="Playfair Display Bold"/>
              </a:rPr>
              <a:t>Introduction</a:t>
            </a:r>
          </a:p>
        </p:txBody>
      </p:sp>
      <p:sp>
        <p:nvSpPr>
          <p:cNvPr id="11" name="TextBox 11"/>
          <p:cNvSpPr txBox="1"/>
          <p:nvPr/>
        </p:nvSpPr>
        <p:spPr>
          <a:xfrm>
            <a:off x="992238" y="4749556"/>
            <a:ext cx="5245446" cy="992981"/>
          </a:xfrm>
          <a:prstGeom prst="rect">
            <a:avLst/>
          </a:prstGeom>
        </p:spPr>
        <p:txBody>
          <a:bodyPr lIns="0" tIns="0" rIns="0" bIns="0" rtlCol="0" anchor="t">
            <a:spAutoFit/>
          </a:bodyPr>
          <a:lstStyle/>
          <a:p>
            <a:pPr algn="l">
              <a:lnSpc>
                <a:spcPts val="3562"/>
              </a:lnSpc>
            </a:pPr>
            <a:r>
              <a:rPr lang="en-US" sz="2187">
                <a:solidFill>
                  <a:srgbClr val="39393C"/>
                </a:solidFill>
                <a:latin typeface="Open Sans"/>
                <a:ea typeface="Open Sans"/>
                <a:cs typeface="Open Sans"/>
                <a:sym typeface="Open Sans"/>
              </a:rPr>
              <a:t>Setting the stage for the internship experience.</a:t>
            </a:r>
          </a:p>
        </p:txBody>
      </p:sp>
      <p:sp>
        <p:nvSpPr>
          <p:cNvPr id="12" name="TextBox 12"/>
          <p:cNvSpPr txBox="1"/>
          <p:nvPr/>
        </p:nvSpPr>
        <p:spPr>
          <a:xfrm>
            <a:off x="6521206" y="3474834"/>
            <a:ext cx="283521" cy="440084"/>
          </a:xfrm>
          <a:prstGeom prst="rect">
            <a:avLst/>
          </a:prstGeom>
        </p:spPr>
        <p:txBody>
          <a:bodyPr lIns="0" tIns="0" rIns="0" bIns="0" rtlCol="0" anchor="t">
            <a:spAutoFit/>
          </a:bodyPr>
          <a:lstStyle/>
          <a:p>
            <a:pPr algn="l">
              <a:lnSpc>
                <a:spcPts val="3562"/>
              </a:lnSpc>
            </a:pPr>
            <a:r>
              <a:rPr lang="en-US" sz="2187">
                <a:solidFill>
                  <a:srgbClr val="39393C"/>
                </a:solidFill>
                <a:latin typeface="Playfair Display"/>
                <a:ea typeface="Playfair Display"/>
                <a:cs typeface="Playfair Display"/>
                <a:sym typeface="Playfair Display"/>
              </a:rPr>
              <a:t>02</a:t>
            </a:r>
          </a:p>
        </p:txBody>
      </p:sp>
      <p:grpSp>
        <p:nvGrpSpPr>
          <p:cNvPr id="13" name="Group 13"/>
          <p:cNvGrpSpPr/>
          <p:nvPr/>
        </p:nvGrpSpPr>
        <p:grpSpPr>
          <a:xfrm>
            <a:off x="6521206" y="4004367"/>
            <a:ext cx="5245446" cy="38100"/>
            <a:chOff x="0" y="0"/>
            <a:chExt cx="6993928" cy="50800"/>
          </a:xfrm>
        </p:grpSpPr>
        <p:sp>
          <p:nvSpPr>
            <p:cNvPr id="14" name="Freeform 14"/>
            <p:cNvSpPr/>
            <p:nvPr/>
          </p:nvSpPr>
          <p:spPr>
            <a:xfrm>
              <a:off x="0" y="0"/>
              <a:ext cx="6993890" cy="50800"/>
            </a:xfrm>
            <a:custGeom>
              <a:avLst/>
              <a:gdLst/>
              <a:ahLst/>
              <a:cxnLst/>
              <a:rect l="l" t="t" r="r" b="b"/>
              <a:pathLst>
                <a:path w="6993890" h="50800">
                  <a:moveTo>
                    <a:pt x="0" y="0"/>
                  </a:moveTo>
                  <a:lnTo>
                    <a:pt x="6993890" y="0"/>
                  </a:lnTo>
                  <a:lnTo>
                    <a:pt x="6993890" y="50800"/>
                  </a:lnTo>
                  <a:lnTo>
                    <a:pt x="0" y="50800"/>
                  </a:lnTo>
                  <a:close/>
                </a:path>
              </a:pathLst>
            </a:custGeom>
            <a:solidFill>
              <a:srgbClr val="101014"/>
            </a:solidFill>
            <a:ln w="12700">
              <a:solidFill>
                <a:srgbClr val="000000"/>
              </a:solidFill>
            </a:ln>
          </p:spPr>
          <p:txBody>
            <a:bodyPr/>
            <a:lstStyle/>
            <a:p>
              <a:endParaRPr lang="en-US"/>
            </a:p>
          </p:txBody>
        </p:sp>
      </p:grpSp>
      <p:sp>
        <p:nvSpPr>
          <p:cNvPr id="15" name="TextBox 15"/>
          <p:cNvSpPr txBox="1"/>
          <p:nvPr/>
        </p:nvSpPr>
        <p:spPr>
          <a:xfrm>
            <a:off x="6521206" y="4203202"/>
            <a:ext cx="3779787" cy="461962"/>
          </a:xfrm>
          <a:prstGeom prst="rect">
            <a:avLst/>
          </a:prstGeom>
        </p:spPr>
        <p:txBody>
          <a:bodyPr lIns="0" tIns="0" rIns="0" bIns="0" rtlCol="0" anchor="t">
            <a:spAutoFit/>
          </a:bodyPr>
          <a:lstStyle/>
          <a:p>
            <a:pPr algn="l">
              <a:lnSpc>
                <a:spcPts val="3437"/>
              </a:lnSpc>
            </a:pPr>
            <a:r>
              <a:rPr lang="en-US" sz="2750" b="1">
                <a:solidFill>
                  <a:srgbClr val="39393C"/>
                </a:solidFill>
                <a:latin typeface="Playfair Display Bold"/>
                <a:ea typeface="Playfair Display Bold"/>
                <a:cs typeface="Playfair Display Bold"/>
                <a:sym typeface="Playfair Display Bold"/>
              </a:rPr>
              <a:t>Organization Overview</a:t>
            </a:r>
          </a:p>
        </p:txBody>
      </p:sp>
      <p:sp>
        <p:nvSpPr>
          <p:cNvPr id="16" name="TextBox 16"/>
          <p:cNvSpPr txBox="1"/>
          <p:nvPr/>
        </p:nvSpPr>
        <p:spPr>
          <a:xfrm>
            <a:off x="6521206" y="4749556"/>
            <a:ext cx="5245446" cy="992981"/>
          </a:xfrm>
          <a:prstGeom prst="rect">
            <a:avLst/>
          </a:prstGeom>
        </p:spPr>
        <p:txBody>
          <a:bodyPr lIns="0" tIns="0" rIns="0" bIns="0" rtlCol="0" anchor="t">
            <a:spAutoFit/>
          </a:bodyPr>
          <a:lstStyle/>
          <a:p>
            <a:pPr algn="l">
              <a:lnSpc>
                <a:spcPts val="3562"/>
              </a:lnSpc>
            </a:pPr>
            <a:r>
              <a:rPr lang="en-US" sz="2187">
                <a:solidFill>
                  <a:srgbClr val="39393C"/>
                </a:solidFill>
                <a:latin typeface="Open Sans"/>
                <a:ea typeface="Open Sans"/>
                <a:cs typeface="Open Sans"/>
                <a:sym typeface="Open Sans"/>
              </a:rPr>
              <a:t>Understanding the company's background and services.</a:t>
            </a:r>
          </a:p>
        </p:txBody>
      </p:sp>
      <p:sp>
        <p:nvSpPr>
          <p:cNvPr id="17" name="TextBox 17"/>
          <p:cNvSpPr txBox="1"/>
          <p:nvPr/>
        </p:nvSpPr>
        <p:spPr>
          <a:xfrm>
            <a:off x="12050163" y="3474834"/>
            <a:ext cx="283521" cy="440084"/>
          </a:xfrm>
          <a:prstGeom prst="rect">
            <a:avLst/>
          </a:prstGeom>
        </p:spPr>
        <p:txBody>
          <a:bodyPr lIns="0" tIns="0" rIns="0" bIns="0" rtlCol="0" anchor="t">
            <a:spAutoFit/>
          </a:bodyPr>
          <a:lstStyle/>
          <a:p>
            <a:pPr algn="l">
              <a:lnSpc>
                <a:spcPts val="3562"/>
              </a:lnSpc>
            </a:pPr>
            <a:r>
              <a:rPr lang="en-US" sz="2187">
                <a:solidFill>
                  <a:srgbClr val="39393C"/>
                </a:solidFill>
                <a:latin typeface="Playfair Display"/>
                <a:ea typeface="Playfair Display"/>
                <a:cs typeface="Playfair Display"/>
                <a:sym typeface="Playfair Display"/>
              </a:rPr>
              <a:t>03</a:t>
            </a:r>
          </a:p>
        </p:txBody>
      </p:sp>
      <p:grpSp>
        <p:nvGrpSpPr>
          <p:cNvPr id="18" name="Group 18"/>
          <p:cNvGrpSpPr/>
          <p:nvPr/>
        </p:nvGrpSpPr>
        <p:grpSpPr>
          <a:xfrm>
            <a:off x="12050163" y="4004367"/>
            <a:ext cx="5245446" cy="38100"/>
            <a:chOff x="0" y="0"/>
            <a:chExt cx="6993928" cy="50800"/>
          </a:xfrm>
        </p:grpSpPr>
        <p:sp>
          <p:nvSpPr>
            <p:cNvPr id="19" name="Freeform 19"/>
            <p:cNvSpPr/>
            <p:nvPr/>
          </p:nvSpPr>
          <p:spPr>
            <a:xfrm>
              <a:off x="0" y="0"/>
              <a:ext cx="6993890" cy="50800"/>
            </a:xfrm>
            <a:custGeom>
              <a:avLst/>
              <a:gdLst/>
              <a:ahLst/>
              <a:cxnLst/>
              <a:rect l="l" t="t" r="r" b="b"/>
              <a:pathLst>
                <a:path w="6993890" h="50800">
                  <a:moveTo>
                    <a:pt x="0" y="0"/>
                  </a:moveTo>
                  <a:lnTo>
                    <a:pt x="6993890" y="0"/>
                  </a:lnTo>
                  <a:lnTo>
                    <a:pt x="6993890" y="50800"/>
                  </a:lnTo>
                  <a:lnTo>
                    <a:pt x="0" y="50800"/>
                  </a:lnTo>
                  <a:close/>
                </a:path>
              </a:pathLst>
            </a:custGeom>
            <a:solidFill>
              <a:srgbClr val="101014"/>
            </a:solidFill>
            <a:ln w="12700">
              <a:solidFill>
                <a:srgbClr val="000000"/>
              </a:solidFill>
            </a:ln>
          </p:spPr>
          <p:txBody>
            <a:bodyPr/>
            <a:lstStyle/>
            <a:p>
              <a:endParaRPr lang="en-US"/>
            </a:p>
          </p:txBody>
        </p:sp>
      </p:grpSp>
      <p:sp>
        <p:nvSpPr>
          <p:cNvPr id="20" name="TextBox 20"/>
          <p:cNvSpPr txBox="1"/>
          <p:nvPr/>
        </p:nvSpPr>
        <p:spPr>
          <a:xfrm>
            <a:off x="12050163" y="4203202"/>
            <a:ext cx="3544043" cy="461962"/>
          </a:xfrm>
          <a:prstGeom prst="rect">
            <a:avLst/>
          </a:prstGeom>
        </p:spPr>
        <p:txBody>
          <a:bodyPr lIns="0" tIns="0" rIns="0" bIns="0" rtlCol="0" anchor="t">
            <a:spAutoFit/>
          </a:bodyPr>
          <a:lstStyle/>
          <a:p>
            <a:pPr algn="l">
              <a:lnSpc>
                <a:spcPts val="3437"/>
              </a:lnSpc>
            </a:pPr>
            <a:r>
              <a:rPr lang="en-US" sz="2750" b="1">
                <a:solidFill>
                  <a:srgbClr val="39393C"/>
                </a:solidFill>
                <a:latin typeface="Playfair Display Bold"/>
                <a:ea typeface="Playfair Display Bold"/>
                <a:cs typeface="Playfair Display Bold"/>
                <a:sym typeface="Playfair Display Bold"/>
              </a:rPr>
              <a:t>Internship Activities</a:t>
            </a:r>
          </a:p>
        </p:txBody>
      </p:sp>
      <p:sp>
        <p:nvSpPr>
          <p:cNvPr id="21" name="TextBox 21"/>
          <p:cNvSpPr txBox="1"/>
          <p:nvPr/>
        </p:nvSpPr>
        <p:spPr>
          <a:xfrm>
            <a:off x="12050163" y="4749556"/>
            <a:ext cx="5245446" cy="992981"/>
          </a:xfrm>
          <a:prstGeom prst="rect">
            <a:avLst/>
          </a:prstGeom>
        </p:spPr>
        <p:txBody>
          <a:bodyPr lIns="0" tIns="0" rIns="0" bIns="0" rtlCol="0" anchor="t">
            <a:spAutoFit/>
          </a:bodyPr>
          <a:lstStyle/>
          <a:p>
            <a:pPr algn="l">
              <a:lnSpc>
                <a:spcPts val="3562"/>
              </a:lnSpc>
            </a:pPr>
            <a:r>
              <a:rPr lang="en-US" sz="2187">
                <a:solidFill>
                  <a:srgbClr val="39393C"/>
                </a:solidFill>
                <a:latin typeface="Open Sans"/>
                <a:ea typeface="Open Sans"/>
                <a:cs typeface="Open Sans"/>
                <a:sym typeface="Open Sans"/>
              </a:rPr>
              <a:t>A summary of learning logs and practical involvement.</a:t>
            </a:r>
          </a:p>
        </p:txBody>
      </p:sp>
      <p:sp>
        <p:nvSpPr>
          <p:cNvPr id="22" name="TextBox 22"/>
          <p:cNvSpPr txBox="1"/>
          <p:nvPr/>
        </p:nvSpPr>
        <p:spPr>
          <a:xfrm>
            <a:off x="992238" y="6152855"/>
            <a:ext cx="283521" cy="440084"/>
          </a:xfrm>
          <a:prstGeom prst="rect">
            <a:avLst/>
          </a:prstGeom>
        </p:spPr>
        <p:txBody>
          <a:bodyPr lIns="0" tIns="0" rIns="0" bIns="0" rtlCol="0" anchor="t">
            <a:spAutoFit/>
          </a:bodyPr>
          <a:lstStyle/>
          <a:p>
            <a:pPr algn="l">
              <a:lnSpc>
                <a:spcPts val="3562"/>
              </a:lnSpc>
            </a:pPr>
            <a:r>
              <a:rPr lang="en-US" sz="2187">
                <a:solidFill>
                  <a:srgbClr val="39393C"/>
                </a:solidFill>
                <a:latin typeface="Playfair Display"/>
                <a:ea typeface="Playfair Display"/>
                <a:cs typeface="Playfair Display"/>
                <a:sym typeface="Playfair Display"/>
              </a:rPr>
              <a:t>04</a:t>
            </a:r>
          </a:p>
        </p:txBody>
      </p:sp>
      <p:grpSp>
        <p:nvGrpSpPr>
          <p:cNvPr id="23" name="Group 23"/>
          <p:cNvGrpSpPr/>
          <p:nvPr/>
        </p:nvGrpSpPr>
        <p:grpSpPr>
          <a:xfrm>
            <a:off x="992238" y="6682378"/>
            <a:ext cx="8009934" cy="38100"/>
            <a:chOff x="0" y="0"/>
            <a:chExt cx="10679913" cy="50800"/>
          </a:xfrm>
        </p:grpSpPr>
        <p:sp>
          <p:nvSpPr>
            <p:cNvPr id="24" name="Freeform 24"/>
            <p:cNvSpPr/>
            <p:nvPr/>
          </p:nvSpPr>
          <p:spPr>
            <a:xfrm>
              <a:off x="0" y="0"/>
              <a:ext cx="10679938" cy="50800"/>
            </a:xfrm>
            <a:custGeom>
              <a:avLst/>
              <a:gdLst/>
              <a:ahLst/>
              <a:cxnLst/>
              <a:rect l="l" t="t" r="r" b="b"/>
              <a:pathLst>
                <a:path w="10679938" h="50800">
                  <a:moveTo>
                    <a:pt x="0" y="0"/>
                  </a:moveTo>
                  <a:lnTo>
                    <a:pt x="10679938" y="0"/>
                  </a:lnTo>
                  <a:lnTo>
                    <a:pt x="10679938" y="50800"/>
                  </a:lnTo>
                  <a:lnTo>
                    <a:pt x="0" y="50800"/>
                  </a:lnTo>
                  <a:close/>
                </a:path>
              </a:pathLst>
            </a:custGeom>
            <a:solidFill>
              <a:srgbClr val="101014"/>
            </a:solidFill>
            <a:ln w="12700">
              <a:solidFill>
                <a:srgbClr val="000000"/>
              </a:solidFill>
            </a:ln>
          </p:spPr>
          <p:txBody>
            <a:bodyPr/>
            <a:lstStyle/>
            <a:p>
              <a:endParaRPr lang="en-US"/>
            </a:p>
          </p:txBody>
        </p:sp>
      </p:grpSp>
      <p:sp>
        <p:nvSpPr>
          <p:cNvPr id="25" name="TextBox 25"/>
          <p:cNvSpPr txBox="1"/>
          <p:nvPr/>
        </p:nvSpPr>
        <p:spPr>
          <a:xfrm>
            <a:off x="992238" y="6881222"/>
            <a:ext cx="3647780" cy="461962"/>
          </a:xfrm>
          <a:prstGeom prst="rect">
            <a:avLst/>
          </a:prstGeom>
        </p:spPr>
        <p:txBody>
          <a:bodyPr lIns="0" tIns="0" rIns="0" bIns="0" rtlCol="0" anchor="t">
            <a:spAutoFit/>
          </a:bodyPr>
          <a:lstStyle/>
          <a:p>
            <a:pPr algn="l">
              <a:lnSpc>
                <a:spcPts val="3437"/>
              </a:lnSpc>
            </a:pPr>
            <a:r>
              <a:rPr lang="en-US" sz="2750" b="1">
                <a:solidFill>
                  <a:srgbClr val="39393C"/>
                </a:solidFill>
                <a:latin typeface="Playfair Display Bold"/>
                <a:ea typeface="Playfair Display Bold"/>
                <a:cs typeface="Playfair Display Bold"/>
                <a:sym typeface="Playfair Display Bold"/>
              </a:rPr>
              <a:t>Concluding Reflection</a:t>
            </a:r>
          </a:p>
        </p:txBody>
      </p:sp>
      <p:sp>
        <p:nvSpPr>
          <p:cNvPr id="26" name="TextBox 26"/>
          <p:cNvSpPr txBox="1"/>
          <p:nvPr/>
        </p:nvSpPr>
        <p:spPr>
          <a:xfrm>
            <a:off x="992238" y="7427566"/>
            <a:ext cx="8009934" cy="539353"/>
          </a:xfrm>
          <a:prstGeom prst="rect">
            <a:avLst/>
          </a:prstGeom>
        </p:spPr>
        <p:txBody>
          <a:bodyPr lIns="0" tIns="0" rIns="0" bIns="0" rtlCol="0" anchor="t">
            <a:spAutoFit/>
          </a:bodyPr>
          <a:lstStyle/>
          <a:p>
            <a:pPr algn="l">
              <a:lnSpc>
                <a:spcPts val="3562"/>
              </a:lnSpc>
            </a:pPr>
            <a:r>
              <a:rPr lang="en-US" sz="2187">
                <a:solidFill>
                  <a:srgbClr val="39393C"/>
                </a:solidFill>
                <a:latin typeface="Open Sans"/>
                <a:ea typeface="Open Sans"/>
                <a:cs typeface="Open Sans"/>
                <a:sym typeface="Open Sans"/>
              </a:rPr>
              <a:t>Key takeaways and personal growth from the internship.</a:t>
            </a:r>
          </a:p>
        </p:txBody>
      </p:sp>
      <p:sp>
        <p:nvSpPr>
          <p:cNvPr id="27" name="TextBox 27"/>
          <p:cNvSpPr txBox="1"/>
          <p:nvPr/>
        </p:nvSpPr>
        <p:spPr>
          <a:xfrm>
            <a:off x="9285684" y="6152855"/>
            <a:ext cx="283521" cy="440084"/>
          </a:xfrm>
          <a:prstGeom prst="rect">
            <a:avLst/>
          </a:prstGeom>
        </p:spPr>
        <p:txBody>
          <a:bodyPr lIns="0" tIns="0" rIns="0" bIns="0" rtlCol="0" anchor="t">
            <a:spAutoFit/>
          </a:bodyPr>
          <a:lstStyle/>
          <a:p>
            <a:pPr algn="l">
              <a:lnSpc>
                <a:spcPts val="3562"/>
              </a:lnSpc>
            </a:pPr>
            <a:r>
              <a:rPr lang="en-US" sz="2187">
                <a:solidFill>
                  <a:srgbClr val="39393C"/>
                </a:solidFill>
                <a:latin typeface="Playfair Display"/>
                <a:ea typeface="Playfair Display"/>
                <a:cs typeface="Playfair Display"/>
                <a:sym typeface="Playfair Display"/>
              </a:rPr>
              <a:t>05</a:t>
            </a:r>
          </a:p>
        </p:txBody>
      </p:sp>
      <p:grpSp>
        <p:nvGrpSpPr>
          <p:cNvPr id="28" name="Group 28"/>
          <p:cNvGrpSpPr/>
          <p:nvPr/>
        </p:nvGrpSpPr>
        <p:grpSpPr>
          <a:xfrm>
            <a:off x="9285684" y="6682378"/>
            <a:ext cx="8009934" cy="38100"/>
            <a:chOff x="0" y="0"/>
            <a:chExt cx="10679913" cy="50800"/>
          </a:xfrm>
        </p:grpSpPr>
        <p:sp>
          <p:nvSpPr>
            <p:cNvPr id="29" name="Freeform 29"/>
            <p:cNvSpPr/>
            <p:nvPr/>
          </p:nvSpPr>
          <p:spPr>
            <a:xfrm>
              <a:off x="0" y="0"/>
              <a:ext cx="10679938" cy="50800"/>
            </a:xfrm>
            <a:custGeom>
              <a:avLst/>
              <a:gdLst/>
              <a:ahLst/>
              <a:cxnLst/>
              <a:rect l="l" t="t" r="r" b="b"/>
              <a:pathLst>
                <a:path w="10679938" h="50800">
                  <a:moveTo>
                    <a:pt x="0" y="0"/>
                  </a:moveTo>
                  <a:lnTo>
                    <a:pt x="10679938" y="0"/>
                  </a:lnTo>
                  <a:lnTo>
                    <a:pt x="10679938" y="50800"/>
                  </a:lnTo>
                  <a:lnTo>
                    <a:pt x="0" y="50800"/>
                  </a:lnTo>
                  <a:close/>
                </a:path>
              </a:pathLst>
            </a:custGeom>
            <a:solidFill>
              <a:srgbClr val="101014"/>
            </a:solidFill>
            <a:ln w="12700">
              <a:solidFill>
                <a:srgbClr val="000000"/>
              </a:solidFill>
            </a:ln>
          </p:spPr>
          <p:txBody>
            <a:bodyPr/>
            <a:lstStyle/>
            <a:p>
              <a:endParaRPr lang="en-US"/>
            </a:p>
          </p:txBody>
        </p:sp>
      </p:grpSp>
      <p:sp>
        <p:nvSpPr>
          <p:cNvPr id="30" name="TextBox 30"/>
          <p:cNvSpPr txBox="1"/>
          <p:nvPr/>
        </p:nvSpPr>
        <p:spPr>
          <a:xfrm>
            <a:off x="9285684" y="6881222"/>
            <a:ext cx="3544043" cy="461962"/>
          </a:xfrm>
          <a:prstGeom prst="rect">
            <a:avLst/>
          </a:prstGeom>
        </p:spPr>
        <p:txBody>
          <a:bodyPr lIns="0" tIns="0" rIns="0" bIns="0" rtlCol="0" anchor="t">
            <a:spAutoFit/>
          </a:bodyPr>
          <a:lstStyle/>
          <a:p>
            <a:pPr algn="l">
              <a:lnSpc>
                <a:spcPts val="3437"/>
              </a:lnSpc>
            </a:pPr>
            <a:r>
              <a:rPr lang="en-US" sz="2750" b="1">
                <a:solidFill>
                  <a:srgbClr val="39393C"/>
                </a:solidFill>
                <a:latin typeface="Playfair Display Bold"/>
                <a:ea typeface="Playfair Display Bold"/>
                <a:cs typeface="Playfair Display Bold"/>
                <a:sym typeface="Playfair Display Bold"/>
              </a:rPr>
              <a:t>Future Plans</a:t>
            </a:r>
          </a:p>
        </p:txBody>
      </p:sp>
      <p:sp>
        <p:nvSpPr>
          <p:cNvPr id="31" name="TextBox 31"/>
          <p:cNvSpPr txBox="1"/>
          <p:nvPr/>
        </p:nvSpPr>
        <p:spPr>
          <a:xfrm>
            <a:off x="9285684" y="7427566"/>
            <a:ext cx="8009934" cy="539353"/>
          </a:xfrm>
          <a:prstGeom prst="rect">
            <a:avLst/>
          </a:prstGeom>
        </p:spPr>
        <p:txBody>
          <a:bodyPr lIns="0" tIns="0" rIns="0" bIns="0" rtlCol="0" anchor="t">
            <a:spAutoFit/>
          </a:bodyPr>
          <a:lstStyle/>
          <a:p>
            <a:pPr algn="l">
              <a:lnSpc>
                <a:spcPts val="3562"/>
              </a:lnSpc>
            </a:pPr>
            <a:r>
              <a:rPr lang="en-US" sz="2187">
                <a:solidFill>
                  <a:srgbClr val="39393C"/>
                </a:solidFill>
                <a:latin typeface="Open Sans"/>
                <a:ea typeface="Open Sans"/>
                <a:cs typeface="Open Sans"/>
                <a:sym typeface="Open Sans"/>
              </a:rPr>
              <a:t>Academic and career aspirations post-internship.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C0C0E"/>
            </a:solidFill>
            <a:ln w="12700">
              <a:solidFill>
                <a:srgbClr val="000000"/>
              </a:solidFill>
            </a:ln>
          </p:spPr>
          <p:txBody>
            <a:bodyPr/>
            <a:lstStyle/>
            <a:p>
              <a:endParaRPr lang="en-US"/>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3F3F7"/>
            </a:solidFill>
            <a:ln w="12700">
              <a:solidFill>
                <a:srgbClr val="000000"/>
              </a:solidFill>
            </a:ln>
          </p:spPr>
          <p:txBody>
            <a:bodyPr/>
            <a:lstStyle/>
            <a:p>
              <a:endParaRPr lang="en-US"/>
            </a:p>
          </p:txBody>
        </p:sp>
      </p:grpSp>
      <p:sp>
        <p:nvSpPr>
          <p:cNvPr id="6" name="TextBox 6"/>
          <p:cNvSpPr txBox="1"/>
          <p:nvPr/>
        </p:nvSpPr>
        <p:spPr>
          <a:xfrm>
            <a:off x="992238" y="2882208"/>
            <a:ext cx="9445523" cy="1800520"/>
          </a:xfrm>
          <a:prstGeom prst="rect">
            <a:avLst/>
          </a:prstGeom>
        </p:spPr>
        <p:txBody>
          <a:bodyPr lIns="0" tIns="0" rIns="0" bIns="0" rtlCol="0" anchor="t">
            <a:spAutoFit/>
          </a:bodyPr>
          <a:lstStyle/>
          <a:p>
            <a:pPr algn="l">
              <a:lnSpc>
                <a:spcPts val="6937"/>
              </a:lnSpc>
            </a:pPr>
            <a:r>
              <a:rPr lang="en-US" sz="5562" b="1">
                <a:solidFill>
                  <a:srgbClr val="101014"/>
                </a:solidFill>
                <a:latin typeface="Playfair Display Bold"/>
                <a:ea typeface="Playfair Display Bold"/>
                <a:cs typeface="Playfair Display Bold"/>
                <a:sym typeface="Playfair Display Bold"/>
              </a:rPr>
              <a:t>Background of Bhusal Tech Traders and Suppliers</a:t>
            </a:r>
          </a:p>
        </p:txBody>
      </p:sp>
      <p:sp>
        <p:nvSpPr>
          <p:cNvPr id="7" name="TextBox 7"/>
          <p:cNvSpPr txBox="1"/>
          <p:nvPr/>
        </p:nvSpPr>
        <p:spPr>
          <a:xfrm>
            <a:off x="992238" y="5022209"/>
            <a:ext cx="9445523" cy="2353866"/>
          </a:xfrm>
          <a:prstGeom prst="rect">
            <a:avLst/>
          </a:prstGeom>
        </p:spPr>
        <p:txBody>
          <a:bodyPr lIns="0" tIns="0" rIns="0" bIns="0" rtlCol="0" anchor="t">
            <a:spAutoFit/>
          </a:bodyPr>
          <a:lstStyle/>
          <a:p>
            <a:pPr algn="l">
              <a:lnSpc>
                <a:spcPts val="3562"/>
              </a:lnSpc>
            </a:pPr>
            <a:r>
              <a:rPr lang="en-US" sz="2187">
                <a:solidFill>
                  <a:srgbClr val="39393C"/>
                </a:solidFill>
                <a:latin typeface="Open Sans"/>
                <a:ea typeface="Open Sans"/>
                <a:cs typeface="Open Sans"/>
                <a:sym typeface="Open Sans"/>
              </a:rPr>
              <a:t>Bhusal Tech is a leading technology service provider specializing in networking equipment, CCTV systems, and comprehensive IT support. They deliver expert installation, configuration, maintenance, and reliable customer support solutions, ensuring secure and high-performance IT infrastructure for diverse organizations.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C0C0E"/>
            </a:solidFill>
            <a:ln w="12700">
              <a:solidFill>
                <a:srgbClr val="000000"/>
              </a:solidFill>
            </a:ln>
          </p:spPr>
          <p:txBody>
            <a:bodyPr/>
            <a:lstStyle/>
            <a:p>
              <a:endParaRPr lang="en-US"/>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3F3F7"/>
            </a:solidFill>
            <a:ln w="12700">
              <a:solidFill>
                <a:srgbClr val="000000"/>
              </a:solidFill>
            </a:ln>
          </p:spPr>
          <p:txBody>
            <a:bodyPr/>
            <a:lstStyle/>
            <a:p>
              <a:endParaRPr lang="en-US"/>
            </a:p>
          </p:txBody>
        </p:sp>
      </p:grpSp>
      <p:sp>
        <p:nvSpPr>
          <p:cNvPr id="6" name="TextBox 6"/>
          <p:cNvSpPr txBox="1"/>
          <p:nvPr/>
        </p:nvSpPr>
        <p:spPr>
          <a:xfrm>
            <a:off x="1273073" y="637137"/>
            <a:ext cx="5703541" cy="722414"/>
          </a:xfrm>
          <a:prstGeom prst="rect">
            <a:avLst/>
          </a:prstGeom>
        </p:spPr>
        <p:txBody>
          <a:bodyPr lIns="0" tIns="0" rIns="0" bIns="0" rtlCol="0" anchor="t">
            <a:spAutoFit/>
          </a:bodyPr>
          <a:lstStyle/>
          <a:p>
            <a:pPr algn="l">
              <a:lnSpc>
                <a:spcPts val="5562"/>
              </a:lnSpc>
            </a:pPr>
            <a:r>
              <a:rPr lang="en-US" sz="4437" b="1">
                <a:solidFill>
                  <a:srgbClr val="101014"/>
                </a:solidFill>
                <a:latin typeface="Playfair Display Bold"/>
                <a:ea typeface="Playfair Display Bold"/>
                <a:cs typeface="Playfair Display Bold"/>
                <a:sym typeface="Playfair Display Bold"/>
              </a:rPr>
              <a:t>My Internship Role</a:t>
            </a:r>
          </a:p>
        </p:txBody>
      </p:sp>
      <p:sp>
        <p:nvSpPr>
          <p:cNvPr id="7" name="TextBox 7"/>
          <p:cNvSpPr txBox="1"/>
          <p:nvPr/>
        </p:nvSpPr>
        <p:spPr>
          <a:xfrm>
            <a:off x="9431836" y="1808855"/>
            <a:ext cx="4494905" cy="365970"/>
          </a:xfrm>
          <a:prstGeom prst="rect">
            <a:avLst/>
          </a:prstGeom>
        </p:spPr>
        <p:txBody>
          <a:bodyPr lIns="0" tIns="0" rIns="0" bIns="0" rtlCol="0" anchor="t">
            <a:spAutoFit/>
          </a:bodyPr>
          <a:lstStyle/>
          <a:p>
            <a:pPr algn="l">
              <a:lnSpc>
                <a:spcPts val="2750"/>
              </a:lnSpc>
            </a:pPr>
            <a:r>
              <a:rPr lang="en-US" sz="2187" b="1">
                <a:solidFill>
                  <a:srgbClr val="101014"/>
                </a:solidFill>
                <a:latin typeface="Playfair Display Bold"/>
                <a:ea typeface="Playfair Display Bold"/>
                <a:cs typeface="Playfair Display Bold"/>
                <a:sym typeface="Playfair Display Bold"/>
              </a:rPr>
              <a:t>Networking and IT Support Intern</a:t>
            </a:r>
          </a:p>
        </p:txBody>
      </p:sp>
      <p:sp>
        <p:nvSpPr>
          <p:cNvPr id="8" name="TextBox 8"/>
          <p:cNvSpPr txBox="1"/>
          <p:nvPr/>
        </p:nvSpPr>
        <p:spPr>
          <a:xfrm>
            <a:off x="9431836" y="2320233"/>
            <a:ext cx="7592616" cy="696811"/>
          </a:xfrm>
          <a:prstGeom prst="rect">
            <a:avLst/>
          </a:prstGeom>
        </p:spPr>
        <p:txBody>
          <a:bodyPr lIns="0" tIns="0" rIns="0" bIns="0" rtlCol="0" anchor="t">
            <a:spAutoFit/>
          </a:bodyPr>
          <a:lstStyle/>
          <a:p>
            <a:pPr algn="l">
              <a:lnSpc>
                <a:spcPts val="2562"/>
              </a:lnSpc>
            </a:pPr>
            <a:r>
              <a:rPr lang="en-US" sz="1750">
                <a:solidFill>
                  <a:srgbClr val="39393C"/>
                </a:solidFill>
                <a:latin typeface="Open Sans"/>
                <a:ea typeface="Open Sans"/>
                <a:cs typeface="Open Sans"/>
                <a:sym typeface="Open Sans"/>
              </a:rPr>
              <a:t>I served as a Networking and IT Support Intern within the Technical Support and Networking Department. My responsibilities included:</a:t>
            </a:r>
          </a:p>
        </p:txBody>
      </p:sp>
      <p:sp>
        <p:nvSpPr>
          <p:cNvPr id="9" name="TextBox 9"/>
          <p:cNvSpPr txBox="1"/>
          <p:nvPr/>
        </p:nvSpPr>
        <p:spPr>
          <a:xfrm>
            <a:off x="9431836" y="3144145"/>
            <a:ext cx="7592616" cy="1355608"/>
          </a:xfrm>
          <a:prstGeom prst="rect">
            <a:avLst/>
          </a:prstGeom>
        </p:spPr>
        <p:txBody>
          <a:bodyPr lIns="0" tIns="0" rIns="0" bIns="0" rtlCol="0" anchor="t">
            <a:spAutoFit/>
          </a:bodyPr>
          <a:lstStyle/>
          <a:p>
            <a:pPr marL="263922" lvl="1" indent="-131961" algn="l">
              <a:lnSpc>
                <a:spcPts val="2562"/>
              </a:lnSpc>
              <a:buFont typeface="Arial"/>
              <a:buChar char="•"/>
            </a:pPr>
            <a:r>
              <a:rPr lang="en-US" sz="1750">
                <a:solidFill>
                  <a:srgbClr val="39393C"/>
                </a:solidFill>
                <a:latin typeface="Open Sans"/>
                <a:ea typeface="Open Sans"/>
                <a:cs typeface="Open Sans"/>
                <a:sym typeface="Open Sans"/>
              </a:rPr>
              <a:t>Assisting with camera installation and configuration.</a:t>
            </a:r>
          </a:p>
          <a:p>
            <a:pPr marL="263922" lvl="1" indent="-131961" algn="l">
              <a:lnSpc>
                <a:spcPts val="2562"/>
              </a:lnSpc>
              <a:buFont typeface="Arial"/>
              <a:buChar char="•"/>
            </a:pPr>
            <a:r>
              <a:rPr lang="en-US" sz="1750">
                <a:solidFill>
                  <a:srgbClr val="39393C"/>
                </a:solidFill>
                <a:latin typeface="Open Sans"/>
                <a:ea typeface="Open Sans"/>
                <a:cs typeface="Open Sans"/>
                <a:sym typeface="Open Sans"/>
              </a:rPr>
              <a:t>Performing network setup and troubleshooting.</a:t>
            </a:r>
          </a:p>
          <a:p>
            <a:pPr marL="263922" lvl="1" indent="-131961" algn="l">
              <a:lnSpc>
                <a:spcPts val="2562"/>
              </a:lnSpc>
              <a:buFont typeface="Arial"/>
              <a:buChar char="•"/>
            </a:pPr>
            <a:r>
              <a:rPr lang="en-US" sz="1750">
                <a:solidFill>
                  <a:srgbClr val="39393C"/>
                </a:solidFill>
                <a:latin typeface="Open Sans"/>
                <a:ea typeface="Open Sans"/>
                <a:cs typeface="Open Sans"/>
                <a:sym typeface="Open Sans"/>
              </a:rPr>
              <a:t>Resolving hardware and software issues.</a:t>
            </a:r>
          </a:p>
          <a:p>
            <a:pPr marL="263922" lvl="1" indent="-131961" algn="l">
              <a:lnSpc>
                <a:spcPts val="2562"/>
              </a:lnSpc>
              <a:buFont typeface="Arial"/>
              <a:buChar char="•"/>
            </a:pPr>
            <a:r>
              <a:rPr lang="en-US" sz="1750">
                <a:solidFill>
                  <a:srgbClr val="39393C"/>
                </a:solidFill>
                <a:latin typeface="Open Sans"/>
                <a:ea typeface="Open Sans"/>
                <a:cs typeface="Open Sans"/>
                <a:sym typeface="Open Sans"/>
              </a:rPr>
              <a:t>Providing on-site and remote technical support to clients.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C0C0E"/>
            </a:solidFill>
            <a:ln w="12700">
              <a:solidFill>
                <a:srgbClr val="000000"/>
              </a:solidFill>
            </a:ln>
          </p:spPr>
          <p:txBody>
            <a:bodyPr/>
            <a:lstStyle/>
            <a:p>
              <a:endParaRPr lang="en-US"/>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3F3F7"/>
            </a:solidFill>
            <a:ln w="12700">
              <a:solidFill>
                <a:srgbClr val="000000"/>
              </a:solidFill>
            </a:ln>
          </p:spPr>
          <p:txBody>
            <a:bodyPr/>
            <a:lstStyle/>
            <a:p>
              <a:endParaRPr lang="en-US"/>
            </a:p>
          </p:txBody>
        </p:sp>
      </p:grpSp>
      <p:sp>
        <p:nvSpPr>
          <p:cNvPr id="6" name="TextBox 6"/>
          <p:cNvSpPr txBox="1"/>
          <p:nvPr/>
        </p:nvSpPr>
        <p:spPr>
          <a:xfrm>
            <a:off x="992238" y="1796053"/>
            <a:ext cx="8724452" cy="914552"/>
          </a:xfrm>
          <a:prstGeom prst="rect">
            <a:avLst/>
          </a:prstGeom>
        </p:spPr>
        <p:txBody>
          <a:bodyPr lIns="0" tIns="0" rIns="0" bIns="0" rtlCol="0" anchor="t">
            <a:spAutoFit/>
          </a:bodyPr>
          <a:lstStyle/>
          <a:p>
            <a:pPr algn="l">
              <a:lnSpc>
                <a:spcPts val="6937"/>
              </a:lnSpc>
            </a:pPr>
            <a:r>
              <a:rPr lang="en-US" sz="5562" b="1">
                <a:solidFill>
                  <a:srgbClr val="101014"/>
                </a:solidFill>
                <a:latin typeface="Playfair Display Bold"/>
                <a:ea typeface="Playfair Display Bold"/>
                <a:cs typeface="Playfair Display Bold"/>
                <a:sym typeface="Playfair Display Bold"/>
              </a:rPr>
              <a:t>Overview of Learning Logs</a:t>
            </a:r>
          </a:p>
        </p:txBody>
      </p:sp>
      <p:grpSp>
        <p:nvGrpSpPr>
          <p:cNvPr id="7" name="Group 7"/>
          <p:cNvGrpSpPr/>
          <p:nvPr/>
        </p:nvGrpSpPr>
        <p:grpSpPr>
          <a:xfrm>
            <a:off x="992238" y="3277638"/>
            <a:ext cx="5434460" cy="1134066"/>
            <a:chOff x="0" y="0"/>
            <a:chExt cx="7245947" cy="1512087"/>
          </a:xfrm>
        </p:grpSpPr>
        <p:sp>
          <p:nvSpPr>
            <p:cNvPr id="8" name="Freeform 8" descr="preencoded.png"/>
            <p:cNvSpPr/>
            <p:nvPr/>
          </p:nvSpPr>
          <p:spPr>
            <a:xfrm>
              <a:off x="0" y="0"/>
              <a:ext cx="7245985" cy="1512062"/>
            </a:xfrm>
            <a:custGeom>
              <a:avLst/>
              <a:gdLst/>
              <a:ahLst/>
              <a:cxnLst/>
              <a:rect l="l" t="t" r="r" b="b"/>
              <a:pathLst>
                <a:path w="7245985" h="1512062">
                  <a:moveTo>
                    <a:pt x="0" y="0"/>
                  </a:moveTo>
                  <a:lnTo>
                    <a:pt x="7245985" y="0"/>
                  </a:lnTo>
                  <a:lnTo>
                    <a:pt x="7245985" y="1512062"/>
                  </a:lnTo>
                  <a:lnTo>
                    <a:pt x="0" y="1512062"/>
                  </a:lnTo>
                  <a:lnTo>
                    <a:pt x="0" y="0"/>
                  </a:lnTo>
                  <a:close/>
                </a:path>
              </a:pathLst>
            </a:custGeom>
            <a:blipFill>
              <a:blip r:embed="rId3"/>
              <a:stretch>
                <a:fillRect l="-65" r="-65" b="-1"/>
              </a:stretch>
            </a:blipFill>
          </p:spPr>
          <p:txBody>
            <a:bodyPr/>
            <a:lstStyle/>
            <a:p>
              <a:endParaRPr lang="en-US"/>
            </a:p>
          </p:txBody>
        </p:sp>
      </p:grpSp>
      <p:sp>
        <p:nvSpPr>
          <p:cNvPr id="9" name="TextBox 9"/>
          <p:cNvSpPr txBox="1"/>
          <p:nvPr/>
        </p:nvSpPr>
        <p:spPr>
          <a:xfrm>
            <a:off x="1275759" y="4676184"/>
            <a:ext cx="4401893" cy="461962"/>
          </a:xfrm>
          <a:prstGeom prst="rect">
            <a:avLst/>
          </a:prstGeom>
        </p:spPr>
        <p:txBody>
          <a:bodyPr lIns="0" tIns="0" rIns="0" bIns="0" rtlCol="0" anchor="t">
            <a:spAutoFit/>
          </a:bodyPr>
          <a:lstStyle/>
          <a:p>
            <a:pPr algn="l">
              <a:lnSpc>
                <a:spcPts val="3437"/>
              </a:lnSpc>
            </a:pPr>
            <a:r>
              <a:rPr lang="en-US" sz="2750" b="1">
                <a:solidFill>
                  <a:srgbClr val="39393C"/>
                </a:solidFill>
                <a:latin typeface="Playfair Display Bold"/>
                <a:ea typeface="Playfair Display Bold"/>
                <a:cs typeface="Playfair Display Bold"/>
                <a:sym typeface="Playfair Display Bold"/>
              </a:rPr>
              <a:t>Structured Documentation</a:t>
            </a:r>
          </a:p>
        </p:txBody>
      </p:sp>
      <p:sp>
        <p:nvSpPr>
          <p:cNvPr id="10" name="TextBox 10"/>
          <p:cNvSpPr txBox="1"/>
          <p:nvPr/>
        </p:nvSpPr>
        <p:spPr>
          <a:xfrm>
            <a:off x="1275759" y="5222529"/>
            <a:ext cx="4867427" cy="1446609"/>
          </a:xfrm>
          <a:prstGeom prst="rect">
            <a:avLst/>
          </a:prstGeom>
        </p:spPr>
        <p:txBody>
          <a:bodyPr lIns="0" tIns="0" rIns="0" bIns="0" rtlCol="0" anchor="t">
            <a:spAutoFit/>
          </a:bodyPr>
          <a:lstStyle/>
          <a:p>
            <a:pPr algn="l">
              <a:lnSpc>
                <a:spcPts val="3562"/>
              </a:lnSpc>
            </a:pPr>
            <a:r>
              <a:rPr lang="en-US" sz="2187">
                <a:solidFill>
                  <a:srgbClr val="39393C"/>
                </a:solidFill>
                <a:latin typeface="Open Sans"/>
                <a:ea typeface="Open Sans"/>
                <a:cs typeface="Open Sans"/>
                <a:sym typeface="Open Sans"/>
              </a:rPr>
              <a:t>Ten detailed logs documenting tasks, challenges, and skills developed.</a:t>
            </a:r>
          </a:p>
        </p:txBody>
      </p:sp>
      <p:grpSp>
        <p:nvGrpSpPr>
          <p:cNvPr id="11" name="Group 11"/>
          <p:cNvGrpSpPr/>
          <p:nvPr/>
        </p:nvGrpSpPr>
        <p:grpSpPr>
          <a:xfrm>
            <a:off x="6426698" y="3277638"/>
            <a:ext cx="5434460" cy="1134066"/>
            <a:chOff x="0" y="0"/>
            <a:chExt cx="7245947" cy="1512087"/>
          </a:xfrm>
        </p:grpSpPr>
        <p:sp>
          <p:nvSpPr>
            <p:cNvPr id="12" name="Freeform 12" descr="preencoded.png"/>
            <p:cNvSpPr/>
            <p:nvPr/>
          </p:nvSpPr>
          <p:spPr>
            <a:xfrm>
              <a:off x="0" y="0"/>
              <a:ext cx="7245985" cy="1512062"/>
            </a:xfrm>
            <a:custGeom>
              <a:avLst/>
              <a:gdLst/>
              <a:ahLst/>
              <a:cxnLst/>
              <a:rect l="l" t="t" r="r" b="b"/>
              <a:pathLst>
                <a:path w="7245985" h="1512062">
                  <a:moveTo>
                    <a:pt x="0" y="0"/>
                  </a:moveTo>
                  <a:lnTo>
                    <a:pt x="7245985" y="0"/>
                  </a:lnTo>
                  <a:lnTo>
                    <a:pt x="7245985" y="1512062"/>
                  </a:lnTo>
                  <a:lnTo>
                    <a:pt x="0" y="1512062"/>
                  </a:lnTo>
                  <a:lnTo>
                    <a:pt x="0" y="0"/>
                  </a:lnTo>
                  <a:close/>
                </a:path>
              </a:pathLst>
            </a:custGeom>
            <a:blipFill>
              <a:blip r:embed="rId4"/>
              <a:stretch>
                <a:fillRect l="-65" r="-65" b="-1"/>
              </a:stretch>
            </a:blipFill>
          </p:spPr>
          <p:txBody>
            <a:bodyPr/>
            <a:lstStyle/>
            <a:p>
              <a:endParaRPr lang="en-US"/>
            </a:p>
          </p:txBody>
        </p:sp>
      </p:grpSp>
      <p:sp>
        <p:nvSpPr>
          <p:cNvPr id="13" name="TextBox 13"/>
          <p:cNvSpPr txBox="1"/>
          <p:nvPr/>
        </p:nvSpPr>
        <p:spPr>
          <a:xfrm>
            <a:off x="6710210" y="4676184"/>
            <a:ext cx="3544043" cy="461962"/>
          </a:xfrm>
          <a:prstGeom prst="rect">
            <a:avLst/>
          </a:prstGeom>
        </p:spPr>
        <p:txBody>
          <a:bodyPr lIns="0" tIns="0" rIns="0" bIns="0" rtlCol="0" anchor="t">
            <a:spAutoFit/>
          </a:bodyPr>
          <a:lstStyle/>
          <a:p>
            <a:pPr algn="l">
              <a:lnSpc>
                <a:spcPts val="3437"/>
              </a:lnSpc>
            </a:pPr>
            <a:r>
              <a:rPr lang="en-US" sz="2750" b="1">
                <a:solidFill>
                  <a:srgbClr val="39393C"/>
                </a:solidFill>
                <a:latin typeface="Playfair Display Bold"/>
                <a:ea typeface="Playfair Display Bold"/>
                <a:cs typeface="Playfair Display Bold"/>
                <a:sym typeface="Playfair Display Bold"/>
              </a:rPr>
              <a:t>Consistent Learning</a:t>
            </a:r>
          </a:p>
        </p:txBody>
      </p:sp>
      <p:sp>
        <p:nvSpPr>
          <p:cNvPr id="14" name="TextBox 14"/>
          <p:cNvSpPr txBox="1"/>
          <p:nvPr/>
        </p:nvSpPr>
        <p:spPr>
          <a:xfrm>
            <a:off x="6710210" y="5222529"/>
            <a:ext cx="4867427" cy="1446609"/>
          </a:xfrm>
          <a:prstGeom prst="rect">
            <a:avLst/>
          </a:prstGeom>
        </p:spPr>
        <p:txBody>
          <a:bodyPr lIns="0" tIns="0" rIns="0" bIns="0" rtlCol="0" anchor="t">
            <a:spAutoFit/>
          </a:bodyPr>
          <a:lstStyle/>
          <a:p>
            <a:pPr algn="l">
              <a:lnSpc>
                <a:spcPts val="3562"/>
              </a:lnSpc>
            </a:pPr>
            <a:r>
              <a:rPr lang="en-US" sz="2187">
                <a:solidFill>
                  <a:srgbClr val="39393C"/>
                </a:solidFill>
                <a:latin typeface="Open Sans"/>
                <a:ea typeface="Open Sans"/>
                <a:cs typeface="Open Sans"/>
                <a:sym typeface="Open Sans"/>
              </a:rPr>
              <a:t>Each log illustrates continuous growth and adaptation in the workplace.</a:t>
            </a:r>
          </a:p>
        </p:txBody>
      </p:sp>
      <p:grpSp>
        <p:nvGrpSpPr>
          <p:cNvPr id="15" name="Group 15"/>
          <p:cNvGrpSpPr/>
          <p:nvPr/>
        </p:nvGrpSpPr>
        <p:grpSpPr>
          <a:xfrm>
            <a:off x="11861159" y="3277638"/>
            <a:ext cx="5434460" cy="1134066"/>
            <a:chOff x="0" y="0"/>
            <a:chExt cx="7245947" cy="1512087"/>
          </a:xfrm>
        </p:grpSpPr>
        <p:sp>
          <p:nvSpPr>
            <p:cNvPr id="16" name="Freeform 16" descr="preencoded.png"/>
            <p:cNvSpPr/>
            <p:nvPr/>
          </p:nvSpPr>
          <p:spPr>
            <a:xfrm>
              <a:off x="0" y="0"/>
              <a:ext cx="7245985" cy="1512062"/>
            </a:xfrm>
            <a:custGeom>
              <a:avLst/>
              <a:gdLst/>
              <a:ahLst/>
              <a:cxnLst/>
              <a:rect l="l" t="t" r="r" b="b"/>
              <a:pathLst>
                <a:path w="7245985" h="1512062">
                  <a:moveTo>
                    <a:pt x="0" y="0"/>
                  </a:moveTo>
                  <a:lnTo>
                    <a:pt x="7245985" y="0"/>
                  </a:lnTo>
                  <a:lnTo>
                    <a:pt x="7245985" y="1512062"/>
                  </a:lnTo>
                  <a:lnTo>
                    <a:pt x="0" y="1512062"/>
                  </a:lnTo>
                  <a:lnTo>
                    <a:pt x="0" y="0"/>
                  </a:lnTo>
                  <a:close/>
                </a:path>
              </a:pathLst>
            </a:custGeom>
            <a:blipFill>
              <a:blip r:embed="rId5"/>
              <a:stretch>
                <a:fillRect l="-65" r="-65" b="-1"/>
              </a:stretch>
            </a:blipFill>
          </p:spPr>
          <p:txBody>
            <a:bodyPr/>
            <a:lstStyle/>
            <a:p>
              <a:endParaRPr lang="en-US"/>
            </a:p>
          </p:txBody>
        </p:sp>
      </p:grpSp>
      <p:sp>
        <p:nvSpPr>
          <p:cNvPr id="17" name="TextBox 17"/>
          <p:cNvSpPr txBox="1"/>
          <p:nvPr/>
        </p:nvSpPr>
        <p:spPr>
          <a:xfrm>
            <a:off x="12144670" y="4676184"/>
            <a:ext cx="4278659" cy="461962"/>
          </a:xfrm>
          <a:prstGeom prst="rect">
            <a:avLst/>
          </a:prstGeom>
        </p:spPr>
        <p:txBody>
          <a:bodyPr lIns="0" tIns="0" rIns="0" bIns="0" rtlCol="0" anchor="t">
            <a:spAutoFit/>
          </a:bodyPr>
          <a:lstStyle/>
          <a:p>
            <a:pPr algn="l">
              <a:lnSpc>
                <a:spcPts val="3437"/>
              </a:lnSpc>
            </a:pPr>
            <a:r>
              <a:rPr lang="en-US" sz="2750" b="1">
                <a:solidFill>
                  <a:srgbClr val="39393C"/>
                </a:solidFill>
                <a:latin typeface="Playfair Display Bold"/>
                <a:ea typeface="Playfair Display Bold"/>
                <a:cs typeface="Playfair Display Bold"/>
                <a:sym typeface="Playfair Display Bold"/>
              </a:rPr>
              <a:t>Professional Development</a:t>
            </a:r>
          </a:p>
        </p:txBody>
      </p:sp>
      <p:sp>
        <p:nvSpPr>
          <p:cNvPr id="18" name="TextBox 18"/>
          <p:cNvSpPr txBox="1"/>
          <p:nvPr/>
        </p:nvSpPr>
        <p:spPr>
          <a:xfrm>
            <a:off x="12144670" y="5222529"/>
            <a:ext cx="4867427" cy="1446609"/>
          </a:xfrm>
          <a:prstGeom prst="rect">
            <a:avLst/>
          </a:prstGeom>
        </p:spPr>
        <p:txBody>
          <a:bodyPr lIns="0" tIns="0" rIns="0" bIns="0" rtlCol="0" anchor="t">
            <a:spAutoFit/>
          </a:bodyPr>
          <a:lstStyle/>
          <a:p>
            <a:pPr algn="l">
              <a:lnSpc>
                <a:spcPts val="3562"/>
              </a:lnSpc>
            </a:pPr>
            <a:r>
              <a:rPr lang="en-US" sz="2187">
                <a:solidFill>
                  <a:srgbClr val="39393C"/>
                </a:solidFill>
                <a:latin typeface="Open Sans"/>
                <a:ea typeface="Open Sans"/>
                <a:cs typeface="Open Sans"/>
                <a:sym typeface="Open Sans"/>
              </a:rPr>
              <a:t>A clear demonstration of evolving competence and practical application.</a:t>
            </a:r>
          </a:p>
        </p:txBody>
      </p:sp>
      <p:sp>
        <p:nvSpPr>
          <p:cNvPr id="19" name="TextBox 19"/>
          <p:cNvSpPr txBox="1"/>
          <p:nvPr/>
        </p:nvSpPr>
        <p:spPr>
          <a:xfrm>
            <a:off x="992238" y="7469391"/>
            <a:ext cx="16303523" cy="992981"/>
          </a:xfrm>
          <a:prstGeom prst="rect">
            <a:avLst/>
          </a:prstGeom>
        </p:spPr>
        <p:txBody>
          <a:bodyPr lIns="0" tIns="0" rIns="0" bIns="0" rtlCol="0" anchor="t">
            <a:spAutoFit/>
          </a:bodyPr>
          <a:lstStyle/>
          <a:p>
            <a:pPr algn="l">
              <a:lnSpc>
                <a:spcPts val="3562"/>
              </a:lnSpc>
            </a:pPr>
            <a:r>
              <a:rPr lang="en-US" sz="2187">
                <a:solidFill>
                  <a:srgbClr val="39393C"/>
                </a:solidFill>
                <a:latin typeface="Open Sans"/>
                <a:ea typeface="Open Sans"/>
                <a:cs typeface="Open Sans"/>
                <a:sym typeface="Open Sans"/>
              </a:rPr>
              <a:t>These logs collectively showcase a journey of consistent learning, critical reflection, and significant professional growth throughout my internship period.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C0C0E"/>
            </a:solidFill>
            <a:ln w="12700">
              <a:solidFill>
                <a:srgbClr val="000000"/>
              </a:solidFill>
            </a:ln>
          </p:spPr>
          <p:txBody>
            <a:bodyPr/>
            <a:lstStyle/>
            <a:p>
              <a:endParaRPr lang="en-US"/>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3F3F7"/>
            </a:solidFill>
            <a:ln w="12700">
              <a:solidFill>
                <a:srgbClr val="000000"/>
              </a:solidFill>
            </a:ln>
          </p:spPr>
          <p:txBody>
            <a:bodyPr/>
            <a:lstStyle/>
            <a:p>
              <a:endParaRPr lang="en-US"/>
            </a:p>
          </p:txBody>
        </p:sp>
      </p:grpSp>
      <p:sp>
        <p:nvSpPr>
          <p:cNvPr id="6" name="TextBox 6"/>
          <p:cNvSpPr txBox="1"/>
          <p:nvPr/>
        </p:nvSpPr>
        <p:spPr>
          <a:xfrm>
            <a:off x="934345" y="792509"/>
            <a:ext cx="12645628" cy="853383"/>
          </a:xfrm>
          <a:prstGeom prst="rect">
            <a:avLst/>
          </a:prstGeom>
        </p:spPr>
        <p:txBody>
          <a:bodyPr lIns="0" tIns="0" rIns="0" bIns="0" rtlCol="0" anchor="t">
            <a:spAutoFit/>
          </a:bodyPr>
          <a:lstStyle/>
          <a:p>
            <a:pPr algn="l">
              <a:lnSpc>
                <a:spcPts val="6562"/>
              </a:lnSpc>
            </a:pPr>
            <a:r>
              <a:rPr lang="en-US" sz="5250" b="1">
                <a:solidFill>
                  <a:srgbClr val="101014"/>
                </a:solidFill>
                <a:latin typeface="Playfair Display Bold"/>
                <a:ea typeface="Playfair Display Bold"/>
                <a:cs typeface="Playfair Display Bold"/>
                <a:sym typeface="Playfair Display Bold"/>
              </a:rPr>
              <a:t>Logs 1–3: Communication and Teamwork</a:t>
            </a:r>
          </a:p>
        </p:txBody>
      </p:sp>
      <p:sp>
        <p:nvSpPr>
          <p:cNvPr id="7" name="TextBox 7"/>
          <p:cNvSpPr txBox="1"/>
          <p:nvPr/>
        </p:nvSpPr>
        <p:spPr>
          <a:xfrm>
            <a:off x="934345" y="7654080"/>
            <a:ext cx="3898259" cy="426539"/>
          </a:xfrm>
          <a:prstGeom prst="rect">
            <a:avLst/>
          </a:prstGeom>
        </p:spPr>
        <p:txBody>
          <a:bodyPr lIns="0" tIns="0" rIns="0" bIns="0" rtlCol="0" anchor="t">
            <a:spAutoFit/>
          </a:bodyPr>
          <a:lstStyle/>
          <a:p>
            <a:pPr algn="l">
              <a:lnSpc>
                <a:spcPts val="3249"/>
              </a:lnSpc>
            </a:pPr>
            <a:r>
              <a:rPr lang="en-US" sz="2625" b="1">
                <a:solidFill>
                  <a:srgbClr val="39393C"/>
                </a:solidFill>
                <a:latin typeface="Playfair Display Bold"/>
                <a:ea typeface="Playfair Display Bold"/>
                <a:cs typeface="Playfair Display Bold"/>
                <a:sym typeface="Playfair Display Bold"/>
              </a:rPr>
              <a:t>Effective Communication</a:t>
            </a:r>
          </a:p>
        </p:txBody>
      </p:sp>
      <p:sp>
        <p:nvSpPr>
          <p:cNvPr id="8" name="TextBox 8"/>
          <p:cNvSpPr txBox="1"/>
          <p:nvPr/>
        </p:nvSpPr>
        <p:spPr>
          <a:xfrm>
            <a:off x="934345" y="8164716"/>
            <a:ext cx="5263601" cy="1310583"/>
          </a:xfrm>
          <a:prstGeom prst="rect">
            <a:avLst/>
          </a:prstGeom>
        </p:spPr>
        <p:txBody>
          <a:bodyPr lIns="0" tIns="0" rIns="0" bIns="0" rtlCol="0" anchor="t">
            <a:spAutoFit/>
          </a:bodyPr>
          <a:lstStyle/>
          <a:p>
            <a:pPr algn="l">
              <a:lnSpc>
                <a:spcPts val="3249"/>
              </a:lnSpc>
            </a:pPr>
            <a:r>
              <a:rPr lang="en-US" sz="2062">
                <a:solidFill>
                  <a:srgbClr val="39393C"/>
                </a:solidFill>
                <a:latin typeface="Open Sans"/>
                <a:ea typeface="Open Sans"/>
                <a:cs typeface="Open Sans"/>
                <a:sym typeface="Open Sans"/>
              </a:rPr>
              <a:t>Developed skills in communicating complex technical issues to both technical and non-technical stakeholders.</a:t>
            </a:r>
          </a:p>
        </p:txBody>
      </p:sp>
      <p:sp>
        <p:nvSpPr>
          <p:cNvPr id="9" name="TextBox 9"/>
          <p:cNvSpPr txBox="1"/>
          <p:nvPr/>
        </p:nvSpPr>
        <p:spPr>
          <a:xfrm>
            <a:off x="6512128" y="7654080"/>
            <a:ext cx="3774872" cy="426539"/>
          </a:xfrm>
          <a:prstGeom prst="rect">
            <a:avLst/>
          </a:prstGeom>
        </p:spPr>
        <p:txBody>
          <a:bodyPr lIns="0" tIns="0" rIns="0" bIns="0" rtlCol="0" anchor="t">
            <a:spAutoFit/>
          </a:bodyPr>
          <a:lstStyle/>
          <a:p>
            <a:pPr algn="l">
              <a:lnSpc>
                <a:spcPts val="3249"/>
              </a:lnSpc>
            </a:pPr>
            <a:r>
              <a:rPr lang="en-US" sz="2625" b="1">
                <a:solidFill>
                  <a:srgbClr val="39393C"/>
                </a:solidFill>
                <a:latin typeface="Playfair Display Bold"/>
                <a:ea typeface="Playfair Display Bold"/>
                <a:cs typeface="Playfair Display Bold"/>
                <a:sym typeface="Playfair Display Bold"/>
              </a:rPr>
              <a:t>Collaborative Teamwork</a:t>
            </a:r>
          </a:p>
        </p:txBody>
      </p:sp>
      <p:sp>
        <p:nvSpPr>
          <p:cNvPr id="10" name="TextBox 10"/>
          <p:cNvSpPr txBox="1"/>
          <p:nvPr/>
        </p:nvSpPr>
        <p:spPr>
          <a:xfrm>
            <a:off x="6512128" y="8164716"/>
            <a:ext cx="5263601" cy="1310583"/>
          </a:xfrm>
          <a:prstGeom prst="rect">
            <a:avLst/>
          </a:prstGeom>
        </p:spPr>
        <p:txBody>
          <a:bodyPr lIns="0" tIns="0" rIns="0" bIns="0" rtlCol="0" anchor="t">
            <a:spAutoFit/>
          </a:bodyPr>
          <a:lstStyle/>
          <a:p>
            <a:pPr algn="l">
              <a:lnSpc>
                <a:spcPts val="3249"/>
              </a:lnSpc>
            </a:pPr>
            <a:r>
              <a:rPr lang="en-US" sz="2062">
                <a:solidFill>
                  <a:srgbClr val="39393C"/>
                </a:solidFill>
                <a:latin typeface="Open Sans"/>
                <a:ea typeface="Open Sans"/>
                <a:cs typeface="Open Sans"/>
                <a:sym typeface="Open Sans"/>
              </a:rPr>
              <a:t>Actively participated in team projects, fostering a collaborative approach to problem-solving and task completion.</a:t>
            </a:r>
          </a:p>
        </p:txBody>
      </p:sp>
      <p:sp>
        <p:nvSpPr>
          <p:cNvPr id="11" name="TextBox 11"/>
          <p:cNvSpPr txBox="1"/>
          <p:nvPr/>
        </p:nvSpPr>
        <p:spPr>
          <a:xfrm>
            <a:off x="12089902" y="7654080"/>
            <a:ext cx="4075357" cy="426539"/>
          </a:xfrm>
          <a:prstGeom prst="rect">
            <a:avLst/>
          </a:prstGeom>
        </p:spPr>
        <p:txBody>
          <a:bodyPr lIns="0" tIns="0" rIns="0" bIns="0" rtlCol="0" anchor="t">
            <a:spAutoFit/>
          </a:bodyPr>
          <a:lstStyle/>
          <a:p>
            <a:pPr algn="l">
              <a:lnSpc>
                <a:spcPts val="3249"/>
              </a:lnSpc>
            </a:pPr>
            <a:r>
              <a:rPr lang="en-US" sz="2625" b="1">
                <a:solidFill>
                  <a:srgbClr val="39393C"/>
                </a:solidFill>
                <a:latin typeface="Playfair Display Bold"/>
                <a:ea typeface="Playfair Display Bold"/>
                <a:cs typeface="Playfair Display Bold"/>
                <a:sym typeface="Playfair Display Bold"/>
              </a:rPr>
              <a:t>Strategic Problem-Solving</a:t>
            </a:r>
          </a:p>
        </p:txBody>
      </p:sp>
      <p:sp>
        <p:nvSpPr>
          <p:cNvPr id="12" name="TextBox 12"/>
          <p:cNvSpPr txBox="1"/>
          <p:nvPr/>
        </p:nvSpPr>
        <p:spPr>
          <a:xfrm>
            <a:off x="12089902" y="8164716"/>
            <a:ext cx="5263601" cy="1310583"/>
          </a:xfrm>
          <a:prstGeom prst="rect">
            <a:avLst/>
          </a:prstGeom>
        </p:spPr>
        <p:txBody>
          <a:bodyPr lIns="0" tIns="0" rIns="0" bIns="0" rtlCol="0" anchor="t">
            <a:spAutoFit/>
          </a:bodyPr>
          <a:lstStyle/>
          <a:p>
            <a:pPr algn="l">
              <a:lnSpc>
                <a:spcPts val="3249"/>
              </a:lnSpc>
            </a:pPr>
            <a:r>
              <a:rPr lang="en-US" sz="2062">
                <a:solidFill>
                  <a:srgbClr val="39393C"/>
                </a:solidFill>
                <a:latin typeface="Open Sans"/>
                <a:ea typeface="Open Sans"/>
                <a:cs typeface="Open Sans"/>
                <a:sym typeface="Open Sans"/>
              </a:rPr>
              <a:t>Applied logical and analytical thinking to diagnose and resolve various technical challenges efficiently.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C0C0E"/>
            </a:solidFill>
            <a:ln w="12700">
              <a:solidFill>
                <a:srgbClr val="000000"/>
              </a:solidFill>
            </a:ln>
          </p:spPr>
          <p:txBody>
            <a:bodyPr/>
            <a:lstStyle/>
            <a:p>
              <a:endParaRPr lang="en-US"/>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3F3F7"/>
            </a:solidFill>
            <a:ln w="12700">
              <a:solidFill>
                <a:srgbClr val="000000"/>
              </a:solidFill>
            </a:ln>
          </p:spPr>
          <p:txBody>
            <a:bodyPr/>
            <a:lstStyle/>
            <a:p>
              <a:endParaRPr lang="en-US"/>
            </a:p>
          </p:txBody>
        </p:sp>
      </p:grpSp>
      <p:sp>
        <p:nvSpPr>
          <p:cNvPr id="6" name="TextBox 6"/>
          <p:cNvSpPr txBox="1"/>
          <p:nvPr/>
        </p:nvSpPr>
        <p:spPr>
          <a:xfrm>
            <a:off x="992238" y="1535316"/>
            <a:ext cx="14872545" cy="914552"/>
          </a:xfrm>
          <a:prstGeom prst="rect">
            <a:avLst/>
          </a:prstGeom>
        </p:spPr>
        <p:txBody>
          <a:bodyPr lIns="0" tIns="0" rIns="0" bIns="0" rtlCol="0" anchor="t">
            <a:spAutoFit/>
          </a:bodyPr>
          <a:lstStyle/>
          <a:p>
            <a:pPr algn="l">
              <a:lnSpc>
                <a:spcPts val="6937"/>
              </a:lnSpc>
            </a:pPr>
            <a:r>
              <a:rPr lang="en-US" sz="5562" b="1">
                <a:solidFill>
                  <a:srgbClr val="101014"/>
                </a:solidFill>
                <a:latin typeface="Playfair Display Bold"/>
                <a:ea typeface="Playfair Display Bold"/>
                <a:cs typeface="Playfair Display Bold"/>
                <a:sym typeface="Playfair Display Bold"/>
              </a:rPr>
              <a:t>Logs 4–6: Time Management and Adaptability</a:t>
            </a:r>
          </a:p>
        </p:txBody>
      </p:sp>
      <p:sp>
        <p:nvSpPr>
          <p:cNvPr id="7" name="TextBox 7"/>
          <p:cNvSpPr txBox="1"/>
          <p:nvPr/>
        </p:nvSpPr>
        <p:spPr>
          <a:xfrm>
            <a:off x="2321566" y="3331073"/>
            <a:ext cx="3544043" cy="461962"/>
          </a:xfrm>
          <a:prstGeom prst="rect">
            <a:avLst/>
          </a:prstGeom>
        </p:spPr>
        <p:txBody>
          <a:bodyPr lIns="0" tIns="0" rIns="0" bIns="0" rtlCol="0" anchor="t">
            <a:spAutoFit/>
          </a:bodyPr>
          <a:lstStyle/>
          <a:p>
            <a:pPr algn="r">
              <a:lnSpc>
                <a:spcPts val="3437"/>
              </a:lnSpc>
            </a:pPr>
            <a:r>
              <a:rPr lang="en-US" sz="2750" b="1">
                <a:solidFill>
                  <a:srgbClr val="39393C"/>
                </a:solidFill>
                <a:latin typeface="Playfair Display Bold"/>
                <a:ea typeface="Playfair Display Bold"/>
                <a:cs typeface="Playfair Display Bold"/>
                <a:sym typeface="Playfair Display Bold"/>
              </a:rPr>
              <a:t>Efficient Scheduling</a:t>
            </a:r>
          </a:p>
        </p:txBody>
      </p:sp>
      <p:sp>
        <p:nvSpPr>
          <p:cNvPr id="8" name="TextBox 8"/>
          <p:cNvSpPr txBox="1"/>
          <p:nvPr/>
        </p:nvSpPr>
        <p:spPr>
          <a:xfrm>
            <a:off x="992238" y="3877418"/>
            <a:ext cx="4873381" cy="1446609"/>
          </a:xfrm>
          <a:prstGeom prst="rect">
            <a:avLst/>
          </a:prstGeom>
        </p:spPr>
        <p:txBody>
          <a:bodyPr lIns="0" tIns="0" rIns="0" bIns="0" rtlCol="0" anchor="t">
            <a:spAutoFit/>
          </a:bodyPr>
          <a:lstStyle/>
          <a:p>
            <a:pPr algn="r">
              <a:lnSpc>
                <a:spcPts val="3562"/>
              </a:lnSpc>
            </a:pPr>
            <a:r>
              <a:rPr lang="en-US" sz="2187">
                <a:solidFill>
                  <a:srgbClr val="39393C"/>
                </a:solidFill>
                <a:latin typeface="Open Sans"/>
                <a:ea typeface="Open Sans"/>
                <a:cs typeface="Open Sans"/>
                <a:sym typeface="Open Sans"/>
              </a:rPr>
              <a:t>Mastered task prioritization and scheduling to meet deadlines consistently.</a:t>
            </a:r>
          </a:p>
        </p:txBody>
      </p:sp>
      <p:grpSp>
        <p:nvGrpSpPr>
          <p:cNvPr id="9" name="Group 9"/>
          <p:cNvGrpSpPr/>
          <p:nvPr/>
        </p:nvGrpSpPr>
        <p:grpSpPr>
          <a:xfrm>
            <a:off x="6290815" y="3016891"/>
            <a:ext cx="5706218" cy="5706218"/>
            <a:chOff x="0" y="0"/>
            <a:chExt cx="7608291" cy="7608291"/>
          </a:xfrm>
        </p:grpSpPr>
        <p:sp>
          <p:nvSpPr>
            <p:cNvPr id="10" name="Freeform 10" descr="preencoded.png"/>
            <p:cNvSpPr/>
            <p:nvPr/>
          </p:nvSpPr>
          <p:spPr>
            <a:xfrm>
              <a:off x="0" y="0"/>
              <a:ext cx="7608316" cy="7608316"/>
            </a:xfrm>
            <a:custGeom>
              <a:avLst/>
              <a:gdLst/>
              <a:ahLst/>
              <a:cxnLst/>
              <a:rect l="l" t="t" r="r" b="b"/>
              <a:pathLst>
                <a:path w="7608316" h="7608316">
                  <a:moveTo>
                    <a:pt x="0" y="0"/>
                  </a:moveTo>
                  <a:lnTo>
                    <a:pt x="7608316" y="0"/>
                  </a:lnTo>
                  <a:lnTo>
                    <a:pt x="7608316" y="7608316"/>
                  </a:lnTo>
                  <a:lnTo>
                    <a:pt x="0" y="7608316"/>
                  </a:lnTo>
                  <a:lnTo>
                    <a:pt x="0" y="0"/>
                  </a:lnTo>
                  <a:close/>
                </a:path>
              </a:pathLst>
            </a:custGeom>
            <a:blipFill>
              <a:blip r:embed="rId3"/>
              <a:stretch>
                <a:fillRect/>
              </a:stretch>
            </a:blipFill>
          </p:spPr>
          <p:txBody>
            <a:bodyPr/>
            <a:lstStyle/>
            <a:p>
              <a:endParaRPr lang="en-US"/>
            </a:p>
          </p:txBody>
        </p:sp>
      </p:grpSp>
      <p:sp>
        <p:nvSpPr>
          <p:cNvPr id="11" name="Freeform 11" descr="preencoded.png"/>
          <p:cNvSpPr/>
          <p:nvPr/>
        </p:nvSpPr>
        <p:spPr>
          <a:xfrm>
            <a:off x="7783411" y="4023722"/>
            <a:ext cx="424158" cy="424158"/>
          </a:xfrm>
          <a:custGeom>
            <a:avLst/>
            <a:gdLst/>
            <a:ahLst/>
            <a:cxnLst/>
            <a:rect l="l" t="t" r="r" b="b"/>
            <a:pathLst>
              <a:path w="424158" h="424158">
                <a:moveTo>
                  <a:pt x="0" y="0"/>
                </a:moveTo>
                <a:lnTo>
                  <a:pt x="424158" y="0"/>
                </a:lnTo>
                <a:lnTo>
                  <a:pt x="424158" y="424158"/>
                </a:lnTo>
                <a:lnTo>
                  <a:pt x="0" y="4241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2" name="TextBox 12"/>
          <p:cNvSpPr txBox="1"/>
          <p:nvPr/>
        </p:nvSpPr>
        <p:spPr>
          <a:xfrm>
            <a:off x="12422238" y="3331073"/>
            <a:ext cx="3544043" cy="461962"/>
          </a:xfrm>
          <a:prstGeom prst="rect">
            <a:avLst/>
          </a:prstGeom>
        </p:spPr>
        <p:txBody>
          <a:bodyPr lIns="0" tIns="0" rIns="0" bIns="0" rtlCol="0" anchor="t">
            <a:spAutoFit/>
          </a:bodyPr>
          <a:lstStyle/>
          <a:p>
            <a:pPr algn="l">
              <a:lnSpc>
                <a:spcPts val="3437"/>
              </a:lnSpc>
            </a:pPr>
            <a:r>
              <a:rPr lang="en-US" sz="2750" b="1">
                <a:solidFill>
                  <a:srgbClr val="39393C"/>
                </a:solidFill>
                <a:latin typeface="Playfair Display Bold"/>
                <a:ea typeface="Playfair Display Bold"/>
                <a:cs typeface="Playfair Display Bold"/>
                <a:sym typeface="Playfair Display Bold"/>
              </a:rPr>
              <a:t>Multitasking Abilities</a:t>
            </a:r>
          </a:p>
        </p:txBody>
      </p:sp>
      <p:sp>
        <p:nvSpPr>
          <p:cNvPr id="13" name="TextBox 13"/>
          <p:cNvSpPr txBox="1"/>
          <p:nvPr/>
        </p:nvSpPr>
        <p:spPr>
          <a:xfrm>
            <a:off x="12422238" y="3877418"/>
            <a:ext cx="4873523" cy="1446609"/>
          </a:xfrm>
          <a:prstGeom prst="rect">
            <a:avLst/>
          </a:prstGeom>
        </p:spPr>
        <p:txBody>
          <a:bodyPr lIns="0" tIns="0" rIns="0" bIns="0" rtlCol="0" anchor="t">
            <a:spAutoFit/>
          </a:bodyPr>
          <a:lstStyle/>
          <a:p>
            <a:pPr algn="l">
              <a:lnSpc>
                <a:spcPts val="3562"/>
              </a:lnSpc>
            </a:pPr>
            <a:r>
              <a:rPr lang="en-US" sz="2187">
                <a:solidFill>
                  <a:srgbClr val="39393C"/>
                </a:solidFill>
                <a:latin typeface="Open Sans"/>
                <a:ea typeface="Open Sans"/>
                <a:cs typeface="Open Sans"/>
                <a:sym typeface="Open Sans"/>
              </a:rPr>
              <a:t>Successfully managed multiple responsibilities and projects simultaneously.</a:t>
            </a:r>
          </a:p>
        </p:txBody>
      </p:sp>
      <p:sp>
        <p:nvSpPr>
          <p:cNvPr id="14" name="Freeform 14" descr="preencoded.png"/>
          <p:cNvSpPr/>
          <p:nvPr/>
        </p:nvSpPr>
        <p:spPr>
          <a:xfrm>
            <a:off x="10565759" y="4509345"/>
            <a:ext cx="424158" cy="424158"/>
          </a:xfrm>
          <a:custGeom>
            <a:avLst/>
            <a:gdLst/>
            <a:ahLst/>
            <a:cxnLst/>
            <a:rect l="l" t="t" r="r" b="b"/>
            <a:pathLst>
              <a:path w="424158" h="424158">
                <a:moveTo>
                  <a:pt x="0" y="0"/>
                </a:moveTo>
                <a:lnTo>
                  <a:pt x="424157" y="0"/>
                </a:lnTo>
                <a:lnTo>
                  <a:pt x="424157" y="424157"/>
                </a:lnTo>
                <a:lnTo>
                  <a:pt x="0" y="42415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5" name="TextBox 15"/>
          <p:cNvSpPr txBox="1"/>
          <p:nvPr/>
        </p:nvSpPr>
        <p:spPr>
          <a:xfrm>
            <a:off x="12422238" y="6396780"/>
            <a:ext cx="3544043" cy="461962"/>
          </a:xfrm>
          <a:prstGeom prst="rect">
            <a:avLst/>
          </a:prstGeom>
        </p:spPr>
        <p:txBody>
          <a:bodyPr lIns="0" tIns="0" rIns="0" bIns="0" rtlCol="0" anchor="t">
            <a:spAutoFit/>
          </a:bodyPr>
          <a:lstStyle/>
          <a:p>
            <a:pPr algn="l">
              <a:lnSpc>
                <a:spcPts val="3437"/>
              </a:lnSpc>
            </a:pPr>
            <a:r>
              <a:rPr lang="en-US" sz="2750" b="1">
                <a:solidFill>
                  <a:srgbClr val="39393C"/>
                </a:solidFill>
                <a:latin typeface="Playfair Display Bold"/>
                <a:ea typeface="Playfair Display Bold"/>
                <a:cs typeface="Playfair Display Bold"/>
                <a:sym typeface="Playfair Display Bold"/>
              </a:rPr>
              <a:t>Quick Adaptation</a:t>
            </a:r>
          </a:p>
        </p:txBody>
      </p:sp>
      <p:sp>
        <p:nvSpPr>
          <p:cNvPr id="16" name="TextBox 16"/>
          <p:cNvSpPr txBox="1"/>
          <p:nvPr/>
        </p:nvSpPr>
        <p:spPr>
          <a:xfrm>
            <a:off x="12422238" y="6943134"/>
            <a:ext cx="4873523" cy="1446609"/>
          </a:xfrm>
          <a:prstGeom prst="rect">
            <a:avLst/>
          </a:prstGeom>
        </p:spPr>
        <p:txBody>
          <a:bodyPr lIns="0" tIns="0" rIns="0" bIns="0" rtlCol="0" anchor="t">
            <a:spAutoFit/>
          </a:bodyPr>
          <a:lstStyle/>
          <a:p>
            <a:pPr algn="l">
              <a:lnSpc>
                <a:spcPts val="3562"/>
              </a:lnSpc>
            </a:pPr>
            <a:r>
              <a:rPr lang="en-US" sz="2187">
                <a:solidFill>
                  <a:srgbClr val="39393C"/>
                </a:solidFill>
                <a:latin typeface="Open Sans"/>
                <a:ea typeface="Open Sans"/>
                <a:cs typeface="Open Sans"/>
                <a:sym typeface="Open Sans"/>
              </a:rPr>
              <a:t>Learned to quickly grasp new tools and technologies, integrating them into workflows.</a:t>
            </a:r>
          </a:p>
        </p:txBody>
      </p:sp>
      <p:sp>
        <p:nvSpPr>
          <p:cNvPr id="17" name="Freeform 17" descr="preencoded.png"/>
          <p:cNvSpPr/>
          <p:nvPr/>
        </p:nvSpPr>
        <p:spPr>
          <a:xfrm>
            <a:off x="10080127" y="7291683"/>
            <a:ext cx="424158" cy="424158"/>
          </a:xfrm>
          <a:custGeom>
            <a:avLst/>
            <a:gdLst/>
            <a:ahLst/>
            <a:cxnLst/>
            <a:rect l="l" t="t" r="r" b="b"/>
            <a:pathLst>
              <a:path w="424158" h="424158">
                <a:moveTo>
                  <a:pt x="0" y="0"/>
                </a:moveTo>
                <a:lnTo>
                  <a:pt x="424157" y="0"/>
                </a:lnTo>
                <a:lnTo>
                  <a:pt x="424157" y="424158"/>
                </a:lnTo>
                <a:lnTo>
                  <a:pt x="0" y="424158"/>
                </a:lnTo>
                <a:lnTo>
                  <a:pt x="0" y="0"/>
                </a:lnTo>
                <a:close/>
              </a:path>
            </a:pathLst>
          </a:custGeom>
          <a:blipFill>
            <a:blip r:embed="rId8">
              <a:extLst>
                <a:ext uri="{96DAC541-7B7A-43D3-8B79-37D633B846F1}">
                  <asvg:svgBlip xmlns:asvg="http://schemas.microsoft.com/office/drawing/2016/SVG/main" r:embed="rId9"/>
                </a:ext>
              </a:extLst>
            </a:blip>
            <a:stretch>
              <a:fillRect t="-18887" b="-18890"/>
            </a:stretch>
          </a:blipFill>
        </p:spPr>
        <p:txBody>
          <a:bodyPr/>
          <a:lstStyle/>
          <a:p>
            <a:endParaRPr lang="en-US"/>
          </a:p>
        </p:txBody>
      </p:sp>
      <p:sp>
        <p:nvSpPr>
          <p:cNvPr id="18" name="TextBox 18"/>
          <p:cNvSpPr txBox="1"/>
          <p:nvPr/>
        </p:nvSpPr>
        <p:spPr>
          <a:xfrm>
            <a:off x="2223935" y="6396780"/>
            <a:ext cx="3641674" cy="461962"/>
          </a:xfrm>
          <a:prstGeom prst="rect">
            <a:avLst/>
          </a:prstGeom>
        </p:spPr>
        <p:txBody>
          <a:bodyPr lIns="0" tIns="0" rIns="0" bIns="0" rtlCol="0" anchor="t">
            <a:spAutoFit/>
          </a:bodyPr>
          <a:lstStyle/>
          <a:p>
            <a:pPr algn="r">
              <a:lnSpc>
                <a:spcPts val="3437"/>
              </a:lnSpc>
            </a:pPr>
            <a:r>
              <a:rPr lang="en-US" sz="2750" b="1">
                <a:solidFill>
                  <a:srgbClr val="39393C"/>
                </a:solidFill>
                <a:latin typeface="Playfair Display Bold"/>
                <a:ea typeface="Playfair Display Bold"/>
                <a:cs typeface="Playfair Display Bold"/>
                <a:sym typeface="Playfair Display Bold"/>
              </a:rPr>
              <a:t>Independent Learning</a:t>
            </a:r>
          </a:p>
        </p:txBody>
      </p:sp>
      <p:sp>
        <p:nvSpPr>
          <p:cNvPr id="19" name="TextBox 19"/>
          <p:cNvSpPr txBox="1"/>
          <p:nvPr/>
        </p:nvSpPr>
        <p:spPr>
          <a:xfrm>
            <a:off x="992238" y="6943134"/>
            <a:ext cx="4873381" cy="1446609"/>
          </a:xfrm>
          <a:prstGeom prst="rect">
            <a:avLst/>
          </a:prstGeom>
        </p:spPr>
        <p:txBody>
          <a:bodyPr lIns="0" tIns="0" rIns="0" bIns="0" rtlCol="0" anchor="t">
            <a:spAutoFit/>
          </a:bodyPr>
          <a:lstStyle/>
          <a:p>
            <a:pPr algn="r">
              <a:lnSpc>
                <a:spcPts val="3562"/>
              </a:lnSpc>
            </a:pPr>
            <a:r>
              <a:rPr lang="en-US" sz="2187">
                <a:solidFill>
                  <a:srgbClr val="39393C"/>
                </a:solidFill>
                <a:latin typeface="Open Sans"/>
                <a:ea typeface="Open Sans"/>
                <a:cs typeface="Open Sans"/>
                <a:sym typeface="Open Sans"/>
              </a:rPr>
              <a:t>Cultivated a proactive approach to continuous learning and skill development.</a:t>
            </a:r>
          </a:p>
        </p:txBody>
      </p:sp>
      <p:sp>
        <p:nvSpPr>
          <p:cNvPr id="20" name="Freeform 20" descr="preencoded.png"/>
          <p:cNvSpPr/>
          <p:nvPr/>
        </p:nvSpPr>
        <p:spPr>
          <a:xfrm>
            <a:off x="7297788" y="6806060"/>
            <a:ext cx="424158" cy="424158"/>
          </a:xfrm>
          <a:custGeom>
            <a:avLst/>
            <a:gdLst/>
            <a:ahLst/>
            <a:cxnLst/>
            <a:rect l="l" t="t" r="r" b="b"/>
            <a:pathLst>
              <a:path w="424158" h="424158">
                <a:moveTo>
                  <a:pt x="0" y="0"/>
                </a:moveTo>
                <a:lnTo>
                  <a:pt x="424158" y="0"/>
                </a:lnTo>
                <a:lnTo>
                  <a:pt x="424158" y="424158"/>
                </a:lnTo>
                <a:lnTo>
                  <a:pt x="0" y="424158"/>
                </a:lnTo>
                <a:lnTo>
                  <a:pt x="0" y="0"/>
                </a:lnTo>
                <a:close/>
              </a:path>
            </a:pathLst>
          </a:custGeom>
          <a:blipFill>
            <a:blip r:embed="rId10">
              <a:extLst>
                <a:ext uri="{96DAC541-7B7A-43D3-8B79-37D633B846F1}">
                  <asvg:svgBlip xmlns:asvg="http://schemas.microsoft.com/office/drawing/2016/SVG/main" r:embed="rId11"/>
                </a:ext>
              </a:extLst>
            </a:blip>
            <a:stretch>
              <a:fillRect t="-24443" b="-24445"/>
            </a:stretch>
          </a:blipFill>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C0C0E"/>
            </a:solidFill>
            <a:ln w="12700">
              <a:solidFill>
                <a:srgbClr val="000000"/>
              </a:solidFill>
            </a:ln>
          </p:spPr>
          <p:txBody>
            <a:bodyPr/>
            <a:lstStyle/>
            <a:p>
              <a:endParaRPr lang="en-US"/>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3F3F7"/>
            </a:solidFill>
            <a:ln w="12700">
              <a:solidFill>
                <a:srgbClr val="000000"/>
              </a:solidFill>
            </a:ln>
          </p:spPr>
          <p:txBody>
            <a:bodyPr/>
            <a:lstStyle/>
            <a:p>
              <a:endParaRPr lang="en-US"/>
            </a:p>
          </p:txBody>
        </p:sp>
      </p:grpSp>
      <p:sp>
        <p:nvSpPr>
          <p:cNvPr id="6" name="TextBox 6"/>
          <p:cNvSpPr txBox="1"/>
          <p:nvPr/>
        </p:nvSpPr>
        <p:spPr>
          <a:xfrm>
            <a:off x="992238" y="2083146"/>
            <a:ext cx="13187210" cy="914552"/>
          </a:xfrm>
          <a:prstGeom prst="rect">
            <a:avLst/>
          </a:prstGeom>
        </p:spPr>
        <p:txBody>
          <a:bodyPr lIns="0" tIns="0" rIns="0" bIns="0" rtlCol="0" anchor="t">
            <a:spAutoFit/>
          </a:bodyPr>
          <a:lstStyle/>
          <a:p>
            <a:pPr algn="l">
              <a:lnSpc>
                <a:spcPts val="6937"/>
              </a:lnSpc>
            </a:pPr>
            <a:r>
              <a:rPr lang="en-US" sz="5562" b="1">
                <a:solidFill>
                  <a:srgbClr val="101014"/>
                </a:solidFill>
                <a:latin typeface="Playfair Display Bold"/>
                <a:ea typeface="Playfair Display Bold"/>
                <a:cs typeface="Playfair Display Bold"/>
                <a:sym typeface="Playfair Display Bold"/>
              </a:rPr>
              <a:t>Logs 7–10: Technical Skills Development</a:t>
            </a:r>
          </a:p>
        </p:txBody>
      </p:sp>
      <p:grpSp>
        <p:nvGrpSpPr>
          <p:cNvPr id="7" name="Group 7"/>
          <p:cNvGrpSpPr/>
          <p:nvPr/>
        </p:nvGrpSpPr>
        <p:grpSpPr>
          <a:xfrm>
            <a:off x="973188" y="3545681"/>
            <a:ext cx="8048034" cy="2201618"/>
            <a:chOff x="0" y="0"/>
            <a:chExt cx="10730713" cy="2935491"/>
          </a:xfrm>
        </p:grpSpPr>
        <p:sp>
          <p:nvSpPr>
            <p:cNvPr id="8" name="Freeform 8"/>
            <p:cNvSpPr/>
            <p:nvPr/>
          </p:nvSpPr>
          <p:spPr>
            <a:xfrm>
              <a:off x="25400" y="25400"/>
              <a:ext cx="10679938" cy="2884678"/>
            </a:xfrm>
            <a:custGeom>
              <a:avLst/>
              <a:gdLst/>
              <a:ahLst/>
              <a:cxnLst/>
              <a:rect l="l" t="t" r="r" b="b"/>
              <a:pathLst>
                <a:path w="10679938" h="2884678">
                  <a:moveTo>
                    <a:pt x="0" y="243840"/>
                  </a:moveTo>
                  <a:cubicBezTo>
                    <a:pt x="0" y="109220"/>
                    <a:pt x="110617" y="0"/>
                    <a:pt x="247015" y="0"/>
                  </a:cubicBezTo>
                  <a:lnTo>
                    <a:pt x="10432923" y="0"/>
                  </a:lnTo>
                  <a:cubicBezTo>
                    <a:pt x="10569321" y="0"/>
                    <a:pt x="10679938" y="109220"/>
                    <a:pt x="10679938" y="243840"/>
                  </a:cubicBezTo>
                  <a:lnTo>
                    <a:pt x="10679938" y="2640838"/>
                  </a:lnTo>
                  <a:cubicBezTo>
                    <a:pt x="10679938" y="2775458"/>
                    <a:pt x="10569321" y="2884678"/>
                    <a:pt x="10432923" y="2884678"/>
                  </a:cubicBezTo>
                  <a:lnTo>
                    <a:pt x="247015" y="2884678"/>
                  </a:lnTo>
                  <a:cubicBezTo>
                    <a:pt x="110617" y="2884678"/>
                    <a:pt x="0" y="2775458"/>
                    <a:pt x="0" y="2640838"/>
                  </a:cubicBezTo>
                  <a:close/>
                </a:path>
              </a:pathLst>
            </a:custGeom>
            <a:solidFill>
              <a:srgbClr val="F3F3F7"/>
            </a:solidFill>
            <a:ln w="12700">
              <a:solidFill>
                <a:srgbClr val="000000"/>
              </a:solidFill>
            </a:ln>
          </p:spPr>
          <p:txBody>
            <a:bodyPr/>
            <a:lstStyle/>
            <a:p>
              <a:endParaRPr lang="en-US"/>
            </a:p>
          </p:txBody>
        </p:sp>
        <p:sp>
          <p:nvSpPr>
            <p:cNvPr id="9" name="Freeform 9"/>
            <p:cNvSpPr/>
            <p:nvPr/>
          </p:nvSpPr>
          <p:spPr>
            <a:xfrm>
              <a:off x="0" y="0"/>
              <a:ext cx="10730738" cy="2935478"/>
            </a:xfrm>
            <a:custGeom>
              <a:avLst/>
              <a:gdLst/>
              <a:ahLst/>
              <a:cxnLst/>
              <a:rect l="l" t="t" r="r" b="b"/>
              <a:pathLst>
                <a:path w="10730738" h="2935478">
                  <a:moveTo>
                    <a:pt x="0" y="269240"/>
                  </a:moveTo>
                  <a:cubicBezTo>
                    <a:pt x="0" y="120269"/>
                    <a:pt x="122301" y="0"/>
                    <a:pt x="272415" y="0"/>
                  </a:cubicBezTo>
                  <a:lnTo>
                    <a:pt x="10458323" y="0"/>
                  </a:lnTo>
                  <a:lnTo>
                    <a:pt x="10458323" y="25400"/>
                  </a:lnTo>
                  <a:lnTo>
                    <a:pt x="10458323" y="0"/>
                  </a:lnTo>
                  <a:cubicBezTo>
                    <a:pt x="10608437" y="0"/>
                    <a:pt x="10730738" y="120269"/>
                    <a:pt x="10730738" y="269240"/>
                  </a:cubicBezTo>
                  <a:lnTo>
                    <a:pt x="10705338" y="269240"/>
                  </a:lnTo>
                  <a:lnTo>
                    <a:pt x="10730738" y="269240"/>
                  </a:lnTo>
                  <a:lnTo>
                    <a:pt x="10730738" y="2666238"/>
                  </a:lnTo>
                  <a:lnTo>
                    <a:pt x="10705338" y="2666238"/>
                  </a:lnTo>
                  <a:lnTo>
                    <a:pt x="10730738" y="2666238"/>
                  </a:lnTo>
                  <a:cubicBezTo>
                    <a:pt x="10730738" y="2815209"/>
                    <a:pt x="10608437" y="2935478"/>
                    <a:pt x="10458323" y="2935478"/>
                  </a:cubicBezTo>
                  <a:lnTo>
                    <a:pt x="10458323" y="2910078"/>
                  </a:lnTo>
                  <a:lnTo>
                    <a:pt x="10458323" y="2935478"/>
                  </a:lnTo>
                  <a:lnTo>
                    <a:pt x="272415" y="2935478"/>
                  </a:lnTo>
                  <a:lnTo>
                    <a:pt x="272415" y="2910078"/>
                  </a:lnTo>
                  <a:lnTo>
                    <a:pt x="272415" y="2935478"/>
                  </a:lnTo>
                  <a:cubicBezTo>
                    <a:pt x="122301" y="2935478"/>
                    <a:pt x="0" y="2815209"/>
                    <a:pt x="0" y="2666238"/>
                  </a:cubicBezTo>
                  <a:lnTo>
                    <a:pt x="0" y="269240"/>
                  </a:lnTo>
                  <a:lnTo>
                    <a:pt x="25400" y="269240"/>
                  </a:lnTo>
                  <a:lnTo>
                    <a:pt x="0" y="269240"/>
                  </a:lnTo>
                  <a:moveTo>
                    <a:pt x="50800" y="269240"/>
                  </a:moveTo>
                  <a:lnTo>
                    <a:pt x="50800" y="2666238"/>
                  </a:lnTo>
                  <a:lnTo>
                    <a:pt x="25400" y="2666238"/>
                  </a:lnTo>
                  <a:lnTo>
                    <a:pt x="50800" y="2666238"/>
                  </a:lnTo>
                  <a:cubicBezTo>
                    <a:pt x="50800" y="2786634"/>
                    <a:pt x="149733" y="2884678"/>
                    <a:pt x="272415" y="2884678"/>
                  </a:cubicBezTo>
                  <a:lnTo>
                    <a:pt x="10458323" y="2884678"/>
                  </a:lnTo>
                  <a:cubicBezTo>
                    <a:pt x="10581005" y="2884678"/>
                    <a:pt x="10679938" y="2786634"/>
                    <a:pt x="10679938" y="2666238"/>
                  </a:cubicBezTo>
                  <a:lnTo>
                    <a:pt x="10679938" y="269240"/>
                  </a:lnTo>
                  <a:cubicBezTo>
                    <a:pt x="10679938" y="148844"/>
                    <a:pt x="10581005" y="50800"/>
                    <a:pt x="10458323" y="50800"/>
                  </a:cubicBezTo>
                  <a:lnTo>
                    <a:pt x="272415" y="50800"/>
                  </a:lnTo>
                  <a:lnTo>
                    <a:pt x="272415" y="25400"/>
                  </a:lnTo>
                  <a:lnTo>
                    <a:pt x="272415" y="50800"/>
                  </a:lnTo>
                  <a:cubicBezTo>
                    <a:pt x="149733" y="50800"/>
                    <a:pt x="50800" y="148844"/>
                    <a:pt x="50800" y="269240"/>
                  </a:cubicBezTo>
                  <a:close/>
                </a:path>
              </a:pathLst>
            </a:custGeom>
            <a:solidFill>
              <a:srgbClr val="C6C6D2"/>
            </a:solidFill>
            <a:ln w="12700">
              <a:solidFill>
                <a:srgbClr val="000000"/>
              </a:solidFill>
            </a:ln>
          </p:spPr>
          <p:txBody>
            <a:bodyPr/>
            <a:lstStyle/>
            <a:p>
              <a:endParaRPr lang="en-US"/>
            </a:p>
          </p:txBody>
        </p:sp>
      </p:grpSp>
      <p:grpSp>
        <p:nvGrpSpPr>
          <p:cNvPr id="10" name="Group 10"/>
          <p:cNvGrpSpPr/>
          <p:nvPr/>
        </p:nvGrpSpPr>
        <p:grpSpPr>
          <a:xfrm>
            <a:off x="954138" y="3564731"/>
            <a:ext cx="152400" cy="2163518"/>
            <a:chOff x="0" y="0"/>
            <a:chExt cx="203200" cy="2884691"/>
          </a:xfrm>
        </p:grpSpPr>
        <p:sp>
          <p:nvSpPr>
            <p:cNvPr id="11" name="Freeform 11"/>
            <p:cNvSpPr/>
            <p:nvPr/>
          </p:nvSpPr>
          <p:spPr>
            <a:xfrm>
              <a:off x="0" y="0"/>
              <a:ext cx="203200" cy="2884805"/>
            </a:xfrm>
            <a:custGeom>
              <a:avLst/>
              <a:gdLst/>
              <a:ahLst/>
              <a:cxnLst/>
              <a:rect l="l" t="t" r="r" b="b"/>
              <a:pathLst>
                <a:path w="203200" h="2884805">
                  <a:moveTo>
                    <a:pt x="0" y="56769"/>
                  </a:moveTo>
                  <a:cubicBezTo>
                    <a:pt x="0" y="25400"/>
                    <a:pt x="25400" y="0"/>
                    <a:pt x="56769" y="0"/>
                  </a:cubicBezTo>
                  <a:lnTo>
                    <a:pt x="146558" y="0"/>
                  </a:lnTo>
                  <a:cubicBezTo>
                    <a:pt x="177800" y="0"/>
                    <a:pt x="203200" y="25400"/>
                    <a:pt x="203200" y="56769"/>
                  </a:cubicBezTo>
                  <a:lnTo>
                    <a:pt x="203200" y="2828036"/>
                  </a:lnTo>
                  <a:cubicBezTo>
                    <a:pt x="203200" y="2859405"/>
                    <a:pt x="177800" y="2884805"/>
                    <a:pt x="146431" y="2884805"/>
                  </a:cubicBezTo>
                  <a:lnTo>
                    <a:pt x="56769" y="2884805"/>
                  </a:lnTo>
                  <a:cubicBezTo>
                    <a:pt x="25400" y="2884805"/>
                    <a:pt x="0" y="2859405"/>
                    <a:pt x="0" y="2828036"/>
                  </a:cubicBezTo>
                  <a:close/>
                </a:path>
              </a:pathLst>
            </a:custGeom>
            <a:solidFill>
              <a:srgbClr val="101014"/>
            </a:solidFill>
            <a:ln w="12700">
              <a:solidFill>
                <a:srgbClr val="000000"/>
              </a:solidFill>
            </a:ln>
          </p:spPr>
          <p:txBody>
            <a:bodyPr/>
            <a:lstStyle/>
            <a:p>
              <a:endParaRPr lang="en-US"/>
            </a:p>
          </p:txBody>
        </p:sp>
      </p:grpSp>
      <p:sp>
        <p:nvSpPr>
          <p:cNvPr id="12" name="TextBox 12"/>
          <p:cNvSpPr txBox="1"/>
          <p:nvPr/>
        </p:nvSpPr>
        <p:spPr>
          <a:xfrm>
            <a:off x="1428159" y="3867302"/>
            <a:ext cx="4910138" cy="461962"/>
          </a:xfrm>
          <a:prstGeom prst="rect">
            <a:avLst/>
          </a:prstGeom>
        </p:spPr>
        <p:txBody>
          <a:bodyPr lIns="0" tIns="0" rIns="0" bIns="0" rtlCol="0" anchor="t">
            <a:spAutoFit/>
          </a:bodyPr>
          <a:lstStyle/>
          <a:p>
            <a:pPr algn="l">
              <a:lnSpc>
                <a:spcPts val="3437"/>
              </a:lnSpc>
            </a:pPr>
            <a:r>
              <a:rPr lang="en-US" sz="2750" b="1">
                <a:solidFill>
                  <a:srgbClr val="39393C"/>
                </a:solidFill>
                <a:latin typeface="Playfair Display Bold"/>
                <a:ea typeface="Playfair Display Bold"/>
                <a:cs typeface="Playfair Display Bold"/>
                <a:sym typeface="Playfair Display Bold"/>
              </a:rPr>
              <a:t>Camera Security Management</a:t>
            </a:r>
          </a:p>
        </p:txBody>
      </p:sp>
      <p:sp>
        <p:nvSpPr>
          <p:cNvPr id="13" name="TextBox 13"/>
          <p:cNvSpPr txBox="1"/>
          <p:nvPr/>
        </p:nvSpPr>
        <p:spPr>
          <a:xfrm>
            <a:off x="1428159" y="4413647"/>
            <a:ext cx="7252392" cy="992981"/>
          </a:xfrm>
          <a:prstGeom prst="rect">
            <a:avLst/>
          </a:prstGeom>
        </p:spPr>
        <p:txBody>
          <a:bodyPr lIns="0" tIns="0" rIns="0" bIns="0" rtlCol="0" anchor="t">
            <a:spAutoFit/>
          </a:bodyPr>
          <a:lstStyle/>
          <a:p>
            <a:pPr algn="l">
              <a:lnSpc>
                <a:spcPts val="3562"/>
              </a:lnSpc>
            </a:pPr>
            <a:r>
              <a:rPr lang="en-US" sz="2187">
                <a:solidFill>
                  <a:srgbClr val="39393C"/>
                </a:solidFill>
                <a:latin typeface="Open Sans"/>
                <a:ea typeface="Open Sans"/>
                <a:cs typeface="Open Sans"/>
                <a:sym typeface="Open Sans"/>
              </a:rPr>
              <a:t>Gained hands-on experience in the installation and configuration of CCTV systems.</a:t>
            </a:r>
          </a:p>
        </p:txBody>
      </p:sp>
      <p:grpSp>
        <p:nvGrpSpPr>
          <p:cNvPr id="14" name="Group 14"/>
          <p:cNvGrpSpPr/>
          <p:nvPr/>
        </p:nvGrpSpPr>
        <p:grpSpPr>
          <a:xfrm>
            <a:off x="9266634" y="3545681"/>
            <a:ext cx="8048177" cy="2201618"/>
            <a:chOff x="0" y="0"/>
            <a:chExt cx="10730903" cy="2935491"/>
          </a:xfrm>
        </p:grpSpPr>
        <p:sp>
          <p:nvSpPr>
            <p:cNvPr id="15" name="Freeform 15"/>
            <p:cNvSpPr/>
            <p:nvPr/>
          </p:nvSpPr>
          <p:spPr>
            <a:xfrm>
              <a:off x="25400" y="25400"/>
              <a:ext cx="10680192" cy="2884678"/>
            </a:xfrm>
            <a:custGeom>
              <a:avLst/>
              <a:gdLst/>
              <a:ahLst/>
              <a:cxnLst/>
              <a:rect l="l" t="t" r="r" b="b"/>
              <a:pathLst>
                <a:path w="10680192" h="2884678">
                  <a:moveTo>
                    <a:pt x="0" y="243840"/>
                  </a:moveTo>
                  <a:cubicBezTo>
                    <a:pt x="0" y="109220"/>
                    <a:pt x="110617" y="0"/>
                    <a:pt x="247015" y="0"/>
                  </a:cubicBezTo>
                  <a:lnTo>
                    <a:pt x="10433177" y="0"/>
                  </a:lnTo>
                  <a:cubicBezTo>
                    <a:pt x="10569575" y="0"/>
                    <a:pt x="10680192" y="109220"/>
                    <a:pt x="10680192" y="243840"/>
                  </a:cubicBezTo>
                  <a:lnTo>
                    <a:pt x="10680192" y="2640838"/>
                  </a:lnTo>
                  <a:cubicBezTo>
                    <a:pt x="10680192" y="2775458"/>
                    <a:pt x="10569575" y="2884678"/>
                    <a:pt x="10433177" y="2884678"/>
                  </a:cubicBezTo>
                  <a:lnTo>
                    <a:pt x="247015" y="2884678"/>
                  </a:lnTo>
                  <a:cubicBezTo>
                    <a:pt x="110617" y="2884678"/>
                    <a:pt x="0" y="2775458"/>
                    <a:pt x="0" y="2640838"/>
                  </a:cubicBezTo>
                  <a:close/>
                </a:path>
              </a:pathLst>
            </a:custGeom>
            <a:solidFill>
              <a:srgbClr val="F3F3F7"/>
            </a:solidFill>
            <a:ln w="12700">
              <a:solidFill>
                <a:srgbClr val="000000"/>
              </a:solidFill>
            </a:ln>
          </p:spPr>
          <p:txBody>
            <a:bodyPr/>
            <a:lstStyle/>
            <a:p>
              <a:endParaRPr lang="en-US"/>
            </a:p>
          </p:txBody>
        </p:sp>
        <p:sp>
          <p:nvSpPr>
            <p:cNvPr id="16" name="Freeform 16"/>
            <p:cNvSpPr/>
            <p:nvPr/>
          </p:nvSpPr>
          <p:spPr>
            <a:xfrm>
              <a:off x="0" y="0"/>
              <a:ext cx="10730992" cy="2935478"/>
            </a:xfrm>
            <a:custGeom>
              <a:avLst/>
              <a:gdLst/>
              <a:ahLst/>
              <a:cxnLst/>
              <a:rect l="l" t="t" r="r" b="b"/>
              <a:pathLst>
                <a:path w="10730992" h="2935478">
                  <a:moveTo>
                    <a:pt x="0" y="269240"/>
                  </a:moveTo>
                  <a:cubicBezTo>
                    <a:pt x="0" y="120269"/>
                    <a:pt x="122301" y="0"/>
                    <a:pt x="272415" y="0"/>
                  </a:cubicBezTo>
                  <a:lnTo>
                    <a:pt x="10458577" y="0"/>
                  </a:lnTo>
                  <a:lnTo>
                    <a:pt x="10458577" y="25400"/>
                  </a:lnTo>
                  <a:lnTo>
                    <a:pt x="10458577" y="0"/>
                  </a:lnTo>
                  <a:cubicBezTo>
                    <a:pt x="10608691" y="0"/>
                    <a:pt x="10730992" y="120269"/>
                    <a:pt x="10730992" y="269240"/>
                  </a:cubicBezTo>
                  <a:lnTo>
                    <a:pt x="10705592" y="269240"/>
                  </a:lnTo>
                  <a:lnTo>
                    <a:pt x="10730992" y="269240"/>
                  </a:lnTo>
                  <a:lnTo>
                    <a:pt x="10730992" y="2666238"/>
                  </a:lnTo>
                  <a:lnTo>
                    <a:pt x="10705592" y="2666238"/>
                  </a:lnTo>
                  <a:lnTo>
                    <a:pt x="10730992" y="2666238"/>
                  </a:lnTo>
                  <a:cubicBezTo>
                    <a:pt x="10730992" y="2815209"/>
                    <a:pt x="10608691" y="2935478"/>
                    <a:pt x="10458577" y="2935478"/>
                  </a:cubicBezTo>
                  <a:lnTo>
                    <a:pt x="10458577" y="2910078"/>
                  </a:lnTo>
                  <a:lnTo>
                    <a:pt x="10458577" y="2935478"/>
                  </a:lnTo>
                  <a:lnTo>
                    <a:pt x="272415" y="2935478"/>
                  </a:lnTo>
                  <a:lnTo>
                    <a:pt x="272415" y="2910078"/>
                  </a:lnTo>
                  <a:lnTo>
                    <a:pt x="272415" y="2935478"/>
                  </a:lnTo>
                  <a:cubicBezTo>
                    <a:pt x="122301" y="2935478"/>
                    <a:pt x="0" y="2815209"/>
                    <a:pt x="0" y="2666238"/>
                  </a:cubicBezTo>
                  <a:lnTo>
                    <a:pt x="0" y="269240"/>
                  </a:lnTo>
                  <a:lnTo>
                    <a:pt x="25400" y="269240"/>
                  </a:lnTo>
                  <a:lnTo>
                    <a:pt x="0" y="269240"/>
                  </a:lnTo>
                  <a:moveTo>
                    <a:pt x="50800" y="269240"/>
                  </a:moveTo>
                  <a:lnTo>
                    <a:pt x="50800" y="2666238"/>
                  </a:lnTo>
                  <a:lnTo>
                    <a:pt x="25400" y="2666238"/>
                  </a:lnTo>
                  <a:lnTo>
                    <a:pt x="50800" y="2666238"/>
                  </a:lnTo>
                  <a:cubicBezTo>
                    <a:pt x="50800" y="2786634"/>
                    <a:pt x="149733" y="2884678"/>
                    <a:pt x="272415" y="2884678"/>
                  </a:cubicBezTo>
                  <a:lnTo>
                    <a:pt x="10458577" y="2884678"/>
                  </a:lnTo>
                  <a:cubicBezTo>
                    <a:pt x="10581259" y="2884678"/>
                    <a:pt x="10680192" y="2786634"/>
                    <a:pt x="10680192" y="2666238"/>
                  </a:cubicBezTo>
                  <a:lnTo>
                    <a:pt x="10680192" y="269240"/>
                  </a:lnTo>
                  <a:cubicBezTo>
                    <a:pt x="10680192" y="148844"/>
                    <a:pt x="10581259" y="50800"/>
                    <a:pt x="10458577" y="50800"/>
                  </a:cubicBezTo>
                  <a:lnTo>
                    <a:pt x="272415" y="50800"/>
                  </a:lnTo>
                  <a:lnTo>
                    <a:pt x="272415" y="25400"/>
                  </a:lnTo>
                  <a:lnTo>
                    <a:pt x="272415" y="50800"/>
                  </a:lnTo>
                  <a:cubicBezTo>
                    <a:pt x="149733" y="50800"/>
                    <a:pt x="50800" y="148844"/>
                    <a:pt x="50800" y="269240"/>
                  </a:cubicBezTo>
                  <a:close/>
                </a:path>
              </a:pathLst>
            </a:custGeom>
            <a:solidFill>
              <a:srgbClr val="C6C6D2"/>
            </a:solidFill>
            <a:ln w="12700">
              <a:solidFill>
                <a:srgbClr val="000000"/>
              </a:solidFill>
            </a:ln>
          </p:spPr>
          <p:txBody>
            <a:bodyPr/>
            <a:lstStyle/>
            <a:p>
              <a:endParaRPr lang="en-US"/>
            </a:p>
          </p:txBody>
        </p:sp>
      </p:grpSp>
      <p:grpSp>
        <p:nvGrpSpPr>
          <p:cNvPr id="17" name="Group 17"/>
          <p:cNvGrpSpPr/>
          <p:nvPr/>
        </p:nvGrpSpPr>
        <p:grpSpPr>
          <a:xfrm>
            <a:off x="9247584" y="3564731"/>
            <a:ext cx="152400" cy="2163518"/>
            <a:chOff x="0" y="0"/>
            <a:chExt cx="203200" cy="2884691"/>
          </a:xfrm>
        </p:grpSpPr>
        <p:sp>
          <p:nvSpPr>
            <p:cNvPr id="18" name="Freeform 18"/>
            <p:cNvSpPr/>
            <p:nvPr/>
          </p:nvSpPr>
          <p:spPr>
            <a:xfrm>
              <a:off x="0" y="0"/>
              <a:ext cx="203200" cy="2884805"/>
            </a:xfrm>
            <a:custGeom>
              <a:avLst/>
              <a:gdLst/>
              <a:ahLst/>
              <a:cxnLst/>
              <a:rect l="l" t="t" r="r" b="b"/>
              <a:pathLst>
                <a:path w="203200" h="2884805">
                  <a:moveTo>
                    <a:pt x="0" y="56769"/>
                  </a:moveTo>
                  <a:cubicBezTo>
                    <a:pt x="0" y="25400"/>
                    <a:pt x="25400" y="0"/>
                    <a:pt x="56769" y="0"/>
                  </a:cubicBezTo>
                  <a:lnTo>
                    <a:pt x="146558" y="0"/>
                  </a:lnTo>
                  <a:cubicBezTo>
                    <a:pt x="177800" y="0"/>
                    <a:pt x="203200" y="25400"/>
                    <a:pt x="203200" y="56769"/>
                  </a:cubicBezTo>
                  <a:lnTo>
                    <a:pt x="203200" y="2828036"/>
                  </a:lnTo>
                  <a:cubicBezTo>
                    <a:pt x="203200" y="2859405"/>
                    <a:pt x="177800" y="2884805"/>
                    <a:pt x="146431" y="2884805"/>
                  </a:cubicBezTo>
                  <a:lnTo>
                    <a:pt x="56769" y="2884805"/>
                  </a:lnTo>
                  <a:cubicBezTo>
                    <a:pt x="25400" y="2884805"/>
                    <a:pt x="0" y="2859405"/>
                    <a:pt x="0" y="2828036"/>
                  </a:cubicBezTo>
                  <a:close/>
                </a:path>
              </a:pathLst>
            </a:custGeom>
            <a:solidFill>
              <a:srgbClr val="101014"/>
            </a:solidFill>
            <a:ln w="12700">
              <a:solidFill>
                <a:srgbClr val="000000"/>
              </a:solidFill>
            </a:ln>
          </p:spPr>
          <p:txBody>
            <a:bodyPr/>
            <a:lstStyle/>
            <a:p>
              <a:endParaRPr lang="en-US"/>
            </a:p>
          </p:txBody>
        </p:sp>
      </p:grpSp>
      <p:sp>
        <p:nvSpPr>
          <p:cNvPr id="19" name="TextBox 19"/>
          <p:cNvSpPr txBox="1"/>
          <p:nvPr/>
        </p:nvSpPr>
        <p:spPr>
          <a:xfrm>
            <a:off x="9721606" y="3867302"/>
            <a:ext cx="5438327" cy="461962"/>
          </a:xfrm>
          <a:prstGeom prst="rect">
            <a:avLst/>
          </a:prstGeom>
        </p:spPr>
        <p:txBody>
          <a:bodyPr lIns="0" tIns="0" rIns="0" bIns="0" rtlCol="0" anchor="t">
            <a:spAutoFit/>
          </a:bodyPr>
          <a:lstStyle/>
          <a:p>
            <a:pPr algn="l">
              <a:lnSpc>
                <a:spcPts val="3437"/>
              </a:lnSpc>
            </a:pPr>
            <a:r>
              <a:rPr lang="en-US" sz="2750" b="1">
                <a:solidFill>
                  <a:srgbClr val="39393C"/>
                </a:solidFill>
                <a:latin typeface="Playfair Display Bold"/>
                <a:ea typeface="Playfair Display Bold"/>
                <a:cs typeface="Playfair Display Bold"/>
                <a:sym typeface="Playfair Display Bold"/>
              </a:rPr>
              <a:t>System &amp; Network Configuration</a:t>
            </a:r>
          </a:p>
        </p:txBody>
      </p:sp>
      <p:sp>
        <p:nvSpPr>
          <p:cNvPr id="20" name="TextBox 20"/>
          <p:cNvSpPr txBox="1"/>
          <p:nvPr/>
        </p:nvSpPr>
        <p:spPr>
          <a:xfrm>
            <a:off x="9721606" y="4413647"/>
            <a:ext cx="7252545" cy="992981"/>
          </a:xfrm>
          <a:prstGeom prst="rect">
            <a:avLst/>
          </a:prstGeom>
        </p:spPr>
        <p:txBody>
          <a:bodyPr lIns="0" tIns="0" rIns="0" bIns="0" rtlCol="0" anchor="t">
            <a:spAutoFit/>
          </a:bodyPr>
          <a:lstStyle/>
          <a:p>
            <a:pPr algn="l">
              <a:lnSpc>
                <a:spcPts val="3562"/>
              </a:lnSpc>
            </a:pPr>
            <a:r>
              <a:rPr lang="en-US" sz="2187">
                <a:solidFill>
                  <a:srgbClr val="39393C"/>
                </a:solidFill>
                <a:latin typeface="Open Sans"/>
                <a:ea typeface="Open Sans"/>
                <a:cs typeface="Open Sans"/>
                <a:sym typeface="Open Sans"/>
              </a:rPr>
              <a:t>Proficiently configured and maintained various network devices and operating systems.</a:t>
            </a:r>
          </a:p>
        </p:txBody>
      </p:sp>
      <p:grpSp>
        <p:nvGrpSpPr>
          <p:cNvPr id="21" name="Group 21"/>
          <p:cNvGrpSpPr/>
          <p:nvPr/>
        </p:nvGrpSpPr>
        <p:grpSpPr>
          <a:xfrm>
            <a:off x="973188" y="5992711"/>
            <a:ext cx="8048034" cy="2201618"/>
            <a:chOff x="0" y="0"/>
            <a:chExt cx="10730713" cy="2935491"/>
          </a:xfrm>
        </p:grpSpPr>
        <p:sp>
          <p:nvSpPr>
            <p:cNvPr id="22" name="Freeform 22"/>
            <p:cNvSpPr/>
            <p:nvPr/>
          </p:nvSpPr>
          <p:spPr>
            <a:xfrm>
              <a:off x="25400" y="25400"/>
              <a:ext cx="10679938" cy="2884678"/>
            </a:xfrm>
            <a:custGeom>
              <a:avLst/>
              <a:gdLst/>
              <a:ahLst/>
              <a:cxnLst/>
              <a:rect l="l" t="t" r="r" b="b"/>
              <a:pathLst>
                <a:path w="10679938" h="2884678">
                  <a:moveTo>
                    <a:pt x="0" y="243840"/>
                  </a:moveTo>
                  <a:cubicBezTo>
                    <a:pt x="0" y="109220"/>
                    <a:pt x="110617" y="0"/>
                    <a:pt x="247015" y="0"/>
                  </a:cubicBezTo>
                  <a:lnTo>
                    <a:pt x="10432923" y="0"/>
                  </a:lnTo>
                  <a:cubicBezTo>
                    <a:pt x="10569321" y="0"/>
                    <a:pt x="10679938" y="109220"/>
                    <a:pt x="10679938" y="243840"/>
                  </a:cubicBezTo>
                  <a:lnTo>
                    <a:pt x="10679938" y="2640838"/>
                  </a:lnTo>
                  <a:cubicBezTo>
                    <a:pt x="10679938" y="2775458"/>
                    <a:pt x="10569321" y="2884678"/>
                    <a:pt x="10432923" y="2884678"/>
                  </a:cubicBezTo>
                  <a:lnTo>
                    <a:pt x="247015" y="2884678"/>
                  </a:lnTo>
                  <a:cubicBezTo>
                    <a:pt x="110617" y="2884678"/>
                    <a:pt x="0" y="2775458"/>
                    <a:pt x="0" y="2640838"/>
                  </a:cubicBezTo>
                  <a:close/>
                </a:path>
              </a:pathLst>
            </a:custGeom>
            <a:solidFill>
              <a:srgbClr val="F3F3F7"/>
            </a:solidFill>
            <a:ln w="12700">
              <a:solidFill>
                <a:srgbClr val="000000"/>
              </a:solidFill>
            </a:ln>
          </p:spPr>
          <p:txBody>
            <a:bodyPr/>
            <a:lstStyle/>
            <a:p>
              <a:endParaRPr lang="en-US"/>
            </a:p>
          </p:txBody>
        </p:sp>
        <p:sp>
          <p:nvSpPr>
            <p:cNvPr id="23" name="Freeform 23"/>
            <p:cNvSpPr/>
            <p:nvPr/>
          </p:nvSpPr>
          <p:spPr>
            <a:xfrm>
              <a:off x="0" y="0"/>
              <a:ext cx="10730738" cy="2935478"/>
            </a:xfrm>
            <a:custGeom>
              <a:avLst/>
              <a:gdLst/>
              <a:ahLst/>
              <a:cxnLst/>
              <a:rect l="l" t="t" r="r" b="b"/>
              <a:pathLst>
                <a:path w="10730738" h="2935478">
                  <a:moveTo>
                    <a:pt x="0" y="269240"/>
                  </a:moveTo>
                  <a:cubicBezTo>
                    <a:pt x="0" y="120269"/>
                    <a:pt x="122301" y="0"/>
                    <a:pt x="272415" y="0"/>
                  </a:cubicBezTo>
                  <a:lnTo>
                    <a:pt x="10458323" y="0"/>
                  </a:lnTo>
                  <a:lnTo>
                    <a:pt x="10458323" y="25400"/>
                  </a:lnTo>
                  <a:lnTo>
                    <a:pt x="10458323" y="0"/>
                  </a:lnTo>
                  <a:cubicBezTo>
                    <a:pt x="10608437" y="0"/>
                    <a:pt x="10730738" y="120269"/>
                    <a:pt x="10730738" y="269240"/>
                  </a:cubicBezTo>
                  <a:lnTo>
                    <a:pt x="10705338" y="269240"/>
                  </a:lnTo>
                  <a:lnTo>
                    <a:pt x="10730738" y="269240"/>
                  </a:lnTo>
                  <a:lnTo>
                    <a:pt x="10730738" y="2666238"/>
                  </a:lnTo>
                  <a:lnTo>
                    <a:pt x="10705338" y="2666238"/>
                  </a:lnTo>
                  <a:lnTo>
                    <a:pt x="10730738" y="2666238"/>
                  </a:lnTo>
                  <a:cubicBezTo>
                    <a:pt x="10730738" y="2815209"/>
                    <a:pt x="10608437" y="2935478"/>
                    <a:pt x="10458323" y="2935478"/>
                  </a:cubicBezTo>
                  <a:lnTo>
                    <a:pt x="10458323" y="2910078"/>
                  </a:lnTo>
                  <a:lnTo>
                    <a:pt x="10458323" y="2935478"/>
                  </a:lnTo>
                  <a:lnTo>
                    <a:pt x="272415" y="2935478"/>
                  </a:lnTo>
                  <a:lnTo>
                    <a:pt x="272415" y="2910078"/>
                  </a:lnTo>
                  <a:lnTo>
                    <a:pt x="272415" y="2935478"/>
                  </a:lnTo>
                  <a:cubicBezTo>
                    <a:pt x="122301" y="2935478"/>
                    <a:pt x="0" y="2815209"/>
                    <a:pt x="0" y="2666238"/>
                  </a:cubicBezTo>
                  <a:lnTo>
                    <a:pt x="0" y="269240"/>
                  </a:lnTo>
                  <a:lnTo>
                    <a:pt x="25400" y="269240"/>
                  </a:lnTo>
                  <a:lnTo>
                    <a:pt x="0" y="269240"/>
                  </a:lnTo>
                  <a:moveTo>
                    <a:pt x="50800" y="269240"/>
                  </a:moveTo>
                  <a:lnTo>
                    <a:pt x="50800" y="2666238"/>
                  </a:lnTo>
                  <a:lnTo>
                    <a:pt x="25400" y="2666238"/>
                  </a:lnTo>
                  <a:lnTo>
                    <a:pt x="50800" y="2666238"/>
                  </a:lnTo>
                  <a:cubicBezTo>
                    <a:pt x="50800" y="2786634"/>
                    <a:pt x="149733" y="2884678"/>
                    <a:pt x="272415" y="2884678"/>
                  </a:cubicBezTo>
                  <a:lnTo>
                    <a:pt x="10458323" y="2884678"/>
                  </a:lnTo>
                  <a:cubicBezTo>
                    <a:pt x="10581005" y="2884678"/>
                    <a:pt x="10679938" y="2786634"/>
                    <a:pt x="10679938" y="2666238"/>
                  </a:cubicBezTo>
                  <a:lnTo>
                    <a:pt x="10679938" y="269240"/>
                  </a:lnTo>
                  <a:cubicBezTo>
                    <a:pt x="10679938" y="148844"/>
                    <a:pt x="10581005" y="50800"/>
                    <a:pt x="10458323" y="50800"/>
                  </a:cubicBezTo>
                  <a:lnTo>
                    <a:pt x="272415" y="50800"/>
                  </a:lnTo>
                  <a:lnTo>
                    <a:pt x="272415" y="25400"/>
                  </a:lnTo>
                  <a:lnTo>
                    <a:pt x="272415" y="50800"/>
                  </a:lnTo>
                  <a:cubicBezTo>
                    <a:pt x="149733" y="50800"/>
                    <a:pt x="50800" y="148844"/>
                    <a:pt x="50800" y="269240"/>
                  </a:cubicBezTo>
                  <a:close/>
                </a:path>
              </a:pathLst>
            </a:custGeom>
            <a:solidFill>
              <a:srgbClr val="C6C6D2"/>
            </a:solidFill>
            <a:ln w="12700">
              <a:solidFill>
                <a:srgbClr val="000000"/>
              </a:solidFill>
            </a:ln>
          </p:spPr>
          <p:txBody>
            <a:bodyPr/>
            <a:lstStyle/>
            <a:p>
              <a:endParaRPr lang="en-US"/>
            </a:p>
          </p:txBody>
        </p:sp>
      </p:grpSp>
      <p:grpSp>
        <p:nvGrpSpPr>
          <p:cNvPr id="24" name="Group 24"/>
          <p:cNvGrpSpPr/>
          <p:nvPr/>
        </p:nvGrpSpPr>
        <p:grpSpPr>
          <a:xfrm>
            <a:off x="954138" y="6011761"/>
            <a:ext cx="152400" cy="2163518"/>
            <a:chOff x="0" y="0"/>
            <a:chExt cx="203200" cy="2884691"/>
          </a:xfrm>
        </p:grpSpPr>
        <p:sp>
          <p:nvSpPr>
            <p:cNvPr id="25" name="Freeform 25"/>
            <p:cNvSpPr/>
            <p:nvPr/>
          </p:nvSpPr>
          <p:spPr>
            <a:xfrm>
              <a:off x="0" y="0"/>
              <a:ext cx="203200" cy="2884805"/>
            </a:xfrm>
            <a:custGeom>
              <a:avLst/>
              <a:gdLst/>
              <a:ahLst/>
              <a:cxnLst/>
              <a:rect l="l" t="t" r="r" b="b"/>
              <a:pathLst>
                <a:path w="203200" h="2884805">
                  <a:moveTo>
                    <a:pt x="0" y="56769"/>
                  </a:moveTo>
                  <a:cubicBezTo>
                    <a:pt x="0" y="25400"/>
                    <a:pt x="25400" y="0"/>
                    <a:pt x="56769" y="0"/>
                  </a:cubicBezTo>
                  <a:lnTo>
                    <a:pt x="146558" y="0"/>
                  </a:lnTo>
                  <a:cubicBezTo>
                    <a:pt x="177800" y="0"/>
                    <a:pt x="203200" y="25400"/>
                    <a:pt x="203200" y="56769"/>
                  </a:cubicBezTo>
                  <a:lnTo>
                    <a:pt x="203200" y="2828036"/>
                  </a:lnTo>
                  <a:cubicBezTo>
                    <a:pt x="203200" y="2859405"/>
                    <a:pt x="177800" y="2884805"/>
                    <a:pt x="146431" y="2884805"/>
                  </a:cubicBezTo>
                  <a:lnTo>
                    <a:pt x="56769" y="2884805"/>
                  </a:lnTo>
                  <a:cubicBezTo>
                    <a:pt x="25400" y="2884805"/>
                    <a:pt x="0" y="2859405"/>
                    <a:pt x="0" y="2828036"/>
                  </a:cubicBezTo>
                  <a:close/>
                </a:path>
              </a:pathLst>
            </a:custGeom>
            <a:solidFill>
              <a:srgbClr val="101014"/>
            </a:solidFill>
            <a:ln w="12700">
              <a:solidFill>
                <a:srgbClr val="000000"/>
              </a:solidFill>
            </a:ln>
          </p:spPr>
          <p:txBody>
            <a:bodyPr/>
            <a:lstStyle/>
            <a:p>
              <a:endParaRPr lang="en-US"/>
            </a:p>
          </p:txBody>
        </p:sp>
      </p:grpSp>
      <p:sp>
        <p:nvSpPr>
          <p:cNvPr id="26" name="TextBox 26"/>
          <p:cNvSpPr txBox="1"/>
          <p:nvPr/>
        </p:nvSpPr>
        <p:spPr>
          <a:xfrm>
            <a:off x="1428159" y="6314332"/>
            <a:ext cx="3544043" cy="461962"/>
          </a:xfrm>
          <a:prstGeom prst="rect">
            <a:avLst/>
          </a:prstGeom>
        </p:spPr>
        <p:txBody>
          <a:bodyPr lIns="0" tIns="0" rIns="0" bIns="0" rtlCol="0" anchor="t">
            <a:spAutoFit/>
          </a:bodyPr>
          <a:lstStyle/>
          <a:p>
            <a:pPr algn="l">
              <a:lnSpc>
                <a:spcPts val="3437"/>
              </a:lnSpc>
            </a:pPr>
            <a:r>
              <a:rPr lang="en-US" sz="2750" b="1">
                <a:solidFill>
                  <a:srgbClr val="39393C"/>
                </a:solidFill>
                <a:latin typeface="Playfair Display Bold"/>
                <a:ea typeface="Playfair Display Bold"/>
                <a:cs typeface="Playfair Display Bold"/>
                <a:sym typeface="Playfair Display Bold"/>
              </a:rPr>
              <a:t>Structured Cabling</a:t>
            </a:r>
          </a:p>
        </p:txBody>
      </p:sp>
      <p:sp>
        <p:nvSpPr>
          <p:cNvPr id="27" name="TextBox 27"/>
          <p:cNvSpPr txBox="1"/>
          <p:nvPr/>
        </p:nvSpPr>
        <p:spPr>
          <a:xfrm>
            <a:off x="1428159" y="6860677"/>
            <a:ext cx="7252392" cy="992981"/>
          </a:xfrm>
          <a:prstGeom prst="rect">
            <a:avLst/>
          </a:prstGeom>
        </p:spPr>
        <p:txBody>
          <a:bodyPr lIns="0" tIns="0" rIns="0" bIns="0" rtlCol="0" anchor="t">
            <a:spAutoFit/>
          </a:bodyPr>
          <a:lstStyle/>
          <a:p>
            <a:pPr algn="l">
              <a:lnSpc>
                <a:spcPts val="3562"/>
              </a:lnSpc>
            </a:pPr>
            <a:r>
              <a:rPr lang="en-US" sz="2187">
                <a:solidFill>
                  <a:srgbClr val="39393C"/>
                </a:solidFill>
                <a:latin typeface="Open Sans"/>
                <a:ea typeface="Open Sans"/>
                <a:cs typeface="Open Sans"/>
                <a:sym typeface="Open Sans"/>
              </a:rPr>
              <a:t>Developed practical skills in implementing organized and efficient cabling solutions.</a:t>
            </a:r>
          </a:p>
        </p:txBody>
      </p:sp>
      <p:grpSp>
        <p:nvGrpSpPr>
          <p:cNvPr id="28" name="Group 28"/>
          <p:cNvGrpSpPr/>
          <p:nvPr/>
        </p:nvGrpSpPr>
        <p:grpSpPr>
          <a:xfrm>
            <a:off x="9266634" y="5992711"/>
            <a:ext cx="8048177" cy="2201618"/>
            <a:chOff x="0" y="0"/>
            <a:chExt cx="10730903" cy="2935491"/>
          </a:xfrm>
        </p:grpSpPr>
        <p:sp>
          <p:nvSpPr>
            <p:cNvPr id="29" name="Freeform 29"/>
            <p:cNvSpPr/>
            <p:nvPr/>
          </p:nvSpPr>
          <p:spPr>
            <a:xfrm>
              <a:off x="25400" y="25400"/>
              <a:ext cx="10680192" cy="2884678"/>
            </a:xfrm>
            <a:custGeom>
              <a:avLst/>
              <a:gdLst/>
              <a:ahLst/>
              <a:cxnLst/>
              <a:rect l="l" t="t" r="r" b="b"/>
              <a:pathLst>
                <a:path w="10680192" h="2884678">
                  <a:moveTo>
                    <a:pt x="0" y="243840"/>
                  </a:moveTo>
                  <a:cubicBezTo>
                    <a:pt x="0" y="109220"/>
                    <a:pt x="110617" y="0"/>
                    <a:pt x="247015" y="0"/>
                  </a:cubicBezTo>
                  <a:lnTo>
                    <a:pt x="10433177" y="0"/>
                  </a:lnTo>
                  <a:cubicBezTo>
                    <a:pt x="10569575" y="0"/>
                    <a:pt x="10680192" y="109220"/>
                    <a:pt x="10680192" y="243840"/>
                  </a:cubicBezTo>
                  <a:lnTo>
                    <a:pt x="10680192" y="2640838"/>
                  </a:lnTo>
                  <a:cubicBezTo>
                    <a:pt x="10680192" y="2775458"/>
                    <a:pt x="10569575" y="2884678"/>
                    <a:pt x="10433177" y="2884678"/>
                  </a:cubicBezTo>
                  <a:lnTo>
                    <a:pt x="247015" y="2884678"/>
                  </a:lnTo>
                  <a:cubicBezTo>
                    <a:pt x="110617" y="2884678"/>
                    <a:pt x="0" y="2775458"/>
                    <a:pt x="0" y="2640838"/>
                  </a:cubicBezTo>
                  <a:close/>
                </a:path>
              </a:pathLst>
            </a:custGeom>
            <a:solidFill>
              <a:srgbClr val="F3F3F7"/>
            </a:solidFill>
            <a:ln w="12700">
              <a:solidFill>
                <a:srgbClr val="000000"/>
              </a:solidFill>
            </a:ln>
          </p:spPr>
          <p:txBody>
            <a:bodyPr/>
            <a:lstStyle/>
            <a:p>
              <a:endParaRPr lang="en-US"/>
            </a:p>
          </p:txBody>
        </p:sp>
        <p:sp>
          <p:nvSpPr>
            <p:cNvPr id="30" name="Freeform 30"/>
            <p:cNvSpPr/>
            <p:nvPr/>
          </p:nvSpPr>
          <p:spPr>
            <a:xfrm>
              <a:off x="0" y="0"/>
              <a:ext cx="10730992" cy="2935478"/>
            </a:xfrm>
            <a:custGeom>
              <a:avLst/>
              <a:gdLst/>
              <a:ahLst/>
              <a:cxnLst/>
              <a:rect l="l" t="t" r="r" b="b"/>
              <a:pathLst>
                <a:path w="10730992" h="2935478">
                  <a:moveTo>
                    <a:pt x="0" y="269240"/>
                  </a:moveTo>
                  <a:cubicBezTo>
                    <a:pt x="0" y="120269"/>
                    <a:pt x="122301" y="0"/>
                    <a:pt x="272415" y="0"/>
                  </a:cubicBezTo>
                  <a:lnTo>
                    <a:pt x="10458577" y="0"/>
                  </a:lnTo>
                  <a:lnTo>
                    <a:pt x="10458577" y="25400"/>
                  </a:lnTo>
                  <a:lnTo>
                    <a:pt x="10458577" y="0"/>
                  </a:lnTo>
                  <a:cubicBezTo>
                    <a:pt x="10608691" y="0"/>
                    <a:pt x="10730992" y="120269"/>
                    <a:pt x="10730992" y="269240"/>
                  </a:cubicBezTo>
                  <a:lnTo>
                    <a:pt x="10705592" y="269240"/>
                  </a:lnTo>
                  <a:lnTo>
                    <a:pt x="10730992" y="269240"/>
                  </a:lnTo>
                  <a:lnTo>
                    <a:pt x="10730992" y="2666238"/>
                  </a:lnTo>
                  <a:lnTo>
                    <a:pt x="10705592" y="2666238"/>
                  </a:lnTo>
                  <a:lnTo>
                    <a:pt x="10730992" y="2666238"/>
                  </a:lnTo>
                  <a:cubicBezTo>
                    <a:pt x="10730992" y="2815209"/>
                    <a:pt x="10608691" y="2935478"/>
                    <a:pt x="10458577" y="2935478"/>
                  </a:cubicBezTo>
                  <a:lnTo>
                    <a:pt x="10458577" y="2910078"/>
                  </a:lnTo>
                  <a:lnTo>
                    <a:pt x="10458577" y="2935478"/>
                  </a:lnTo>
                  <a:lnTo>
                    <a:pt x="272415" y="2935478"/>
                  </a:lnTo>
                  <a:lnTo>
                    <a:pt x="272415" y="2910078"/>
                  </a:lnTo>
                  <a:lnTo>
                    <a:pt x="272415" y="2935478"/>
                  </a:lnTo>
                  <a:cubicBezTo>
                    <a:pt x="122301" y="2935478"/>
                    <a:pt x="0" y="2815209"/>
                    <a:pt x="0" y="2666238"/>
                  </a:cubicBezTo>
                  <a:lnTo>
                    <a:pt x="0" y="269240"/>
                  </a:lnTo>
                  <a:lnTo>
                    <a:pt x="25400" y="269240"/>
                  </a:lnTo>
                  <a:lnTo>
                    <a:pt x="0" y="269240"/>
                  </a:lnTo>
                  <a:moveTo>
                    <a:pt x="50800" y="269240"/>
                  </a:moveTo>
                  <a:lnTo>
                    <a:pt x="50800" y="2666238"/>
                  </a:lnTo>
                  <a:lnTo>
                    <a:pt x="25400" y="2666238"/>
                  </a:lnTo>
                  <a:lnTo>
                    <a:pt x="50800" y="2666238"/>
                  </a:lnTo>
                  <a:cubicBezTo>
                    <a:pt x="50800" y="2786634"/>
                    <a:pt x="149733" y="2884678"/>
                    <a:pt x="272415" y="2884678"/>
                  </a:cubicBezTo>
                  <a:lnTo>
                    <a:pt x="10458577" y="2884678"/>
                  </a:lnTo>
                  <a:cubicBezTo>
                    <a:pt x="10581259" y="2884678"/>
                    <a:pt x="10680192" y="2786634"/>
                    <a:pt x="10680192" y="2666238"/>
                  </a:cubicBezTo>
                  <a:lnTo>
                    <a:pt x="10680192" y="269240"/>
                  </a:lnTo>
                  <a:cubicBezTo>
                    <a:pt x="10680192" y="148844"/>
                    <a:pt x="10581259" y="50800"/>
                    <a:pt x="10458577" y="50800"/>
                  </a:cubicBezTo>
                  <a:lnTo>
                    <a:pt x="272415" y="50800"/>
                  </a:lnTo>
                  <a:lnTo>
                    <a:pt x="272415" y="25400"/>
                  </a:lnTo>
                  <a:lnTo>
                    <a:pt x="272415" y="50800"/>
                  </a:lnTo>
                  <a:cubicBezTo>
                    <a:pt x="149733" y="50800"/>
                    <a:pt x="50800" y="148844"/>
                    <a:pt x="50800" y="269240"/>
                  </a:cubicBezTo>
                  <a:close/>
                </a:path>
              </a:pathLst>
            </a:custGeom>
            <a:solidFill>
              <a:srgbClr val="C6C6D2"/>
            </a:solidFill>
            <a:ln w="12700">
              <a:solidFill>
                <a:srgbClr val="000000"/>
              </a:solidFill>
            </a:ln>
          </p:spPr>
          <p:txBody>
            <a:bodyPr/>
            <a:lstStyle/>
            <a:p>
              <a:endParaRPr lang="en-US"/>
            </a:p>
          </p:txBody>
        </p:sp>
      </p:grpSp>
      <p:grpSp>
        <p:nvGrpSpPr>
          <p:cNvPr id="31" name="Group 31"/>
          <p:cNvGrpSpPr/>
          <p:nvPr/>
        </p:nvGrpSpPr>
        <p:grpSpPr>
          <a:xfrm>
            <a:off x="9247584" y="6011761"/>
            <a:ext cx="152400" cy="2163518"/>
            <a:chOff x="0" y="0"/>
            <a:chExt cx="203200" cy="2884691"/>
          </a:xfrm>
        </p:grpSpPr>
        <p:sp>
          <p:nvSpPr>
            <p:cNvPr id="32" name="Freeform 32"/>
            <p:cNvSpPr/>
            <p:nvPr/>
          </p:nvSpPr>
          <p:spPr>
            <a:xfrm>
              <a:off x="0" y="0"/>
              <a:ext cx="203200" cy="2884805"/>
            </a:xfrm>
            <a:custGeom>
              <a:avLst/>
              <a:gdLst/>
              <a:ahLst/>
              <a:cxnLst/>
              <a:rect l="l" t="t" r="r" b="b"/>
              <a:pathLst>
                <a:path w="203200" h="2884805">
                  <a:moveTo>
                    <a:pt x="0" y="56769"/>
                  </a:moveTo>
                  <a:cubicBezTo>
                    <a:pt x="0" y="25400"/>
                    <a:pt x="25400" y="0"/>
                    <a:pt x="56769" y="0"/>
                  </a:cubicBezTo>
                  <a:lnTo>
                    <a:pt x="146558" y="0"/>
                  </a:lnTo>
                  <a:cubicBezTo>
                    <a:pt x="177800" y="0"/>
                    <a:pt x="203200" y="25400"/>
                    <a:pt x="203200" y="56769"/>
                  </a:cubicBezTo>
                  <a:lnTo>
                    <a:pt x="203200" y="2828036"/>
                  </a:lnTo>
                  <a:cubicBezTo>
                    <a:pt x="203200" y="2859405"/>
                    <a:pt x="177800" y="2884805"/>
                    <a:pt x="146431" y="2884805"/>
                  </a:cubicBezTo>
                  <a:lnTo>
                    <a:pt x="56769" y="2884805"/>
                  </a:lnTo>
                  <a:cubicBezTo>
                    <a:pt x="25400" y="2884805"/>
                    <a:pt x="0" y="2859405"/>
                    <a:pt x="0" y="2828036"/>
                  </a:cubicBezTo>
                  <a:close/>
                </a:path>
              </a:pathLst>
            </a:custGeom>
            <a:solidFill>
              <a:srgbClr val="101014"/>
            </a:solidFill>
            <a:ln w="12700">
              <a:solidFill>
                <a:srgbClr val="000000"/>
              </a:solidFill>
            </a:ln>
          </p:spPr>
          <p:txBody>
            <a:bodyPr/>
            <a:lstStyle/>
            <a:p>
              <a:endParaRPr lang="en-US"/>
            </a:p>
          </p:txBody>
        </p:sp>
      </p:grpSp>
      <p:sp>
        <p:nvSpPr>
          <p:cNvPr id="33" name="TextBox 33"/>
          <p:cNvSpPr txBox="1"/>
          <p:nvPr/>
        </p:nvSpPr>
        <p:spPr>
          <a:xfrm>
            <a:off x="9721606" y="6314332"/>
            <a:ext cx="6020248" cy="461962"/>
          </a:xfrm>
          <a:prstGeom prst="rect">
            <a:avLst/>
          </a:prstGeom>
        </p:spPr>
        <p:txBody>
          <a:bodyPr lIns="0" tIns="0" rIns="0" bIns="0" rtlCol="0" anchor="t">
            <a:spAutoFit/>
          </a:bodyPr>
          <a:lstStyle/>
          <a:p>
            <a:pPr algn="l">
              <a:lnSpc>
                <a:spcPts val="3437"/>
              </a:lnSpc>
            </a:pPr>
            <a:r>
              <a:rPr lang="en-US" sz="2750" b="1">
                <a:solidFill>
                  <a:srgbClr val="39393C"/>
                </a:solidFill>
                <a:latin typeface="Playfair Display Bold"/>
                <a:ea typeface="Playfair Display Bold"/>
                <a:cs typeface="Playfair Display Bold"/>
                <a:sym typeface="Playfair Display Bold"/>
              </a:rPr>
              <a:t>Hardware/Software Troubleshooting</a:t>
            </a:r>
          </a:p>
        </p:txBody>
      </p:sp>
      <p:sp>
        <p:nvSpPr>
          <p:cNvPr id="34" name="TextBox 34"/>
          <p:cNvSpPr txBox="1"/>
          <p:nvPr/>
        </p:nvSpPr>
        <p:spPr>
          <a:xfrm>
            <a:off x="9721606" y="6860677"/>
            <a:ext cx="7252545" cy="992981"/>
          </a:xfrm>
          <a:prstGeom prst="rect">
            <a:avLst/>
          </a:prstGeom>
        </p:spPr>
        <p:txBody>
          <a:bodyPr lIns="0" tIns="0" rIns="0" bIns="0" rtlCol="0" anchor="t">
            <a:spAutoFit/>
          </a:bodyPr>
          <a:lstStyle/>
          <a:p>
            <a:pPr algn="l">
              <a:lnSpc>
                <a:spcPts val="3562"/>
              </a:lnSpc>
            </a:pPr>
            <a:r>
              <a:rPr lang="en-US" sz="2187">
                <a:solidFill>
                  <a:srgbClr val="39393C"/>
                </a:solidFill>
                <a:latin typeface="Open Sans"/>
                <a:ea typeface="Open Sans"/>
                <a:cs typeface="Open Sans"/>
                <a:sym typeface="Open Sans"/>
              </a:rPr>
              <a:t>Enhanced problem-solving capabilities for diagnosing and repairing IT infrastructure issues.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C0C0E"/>
            </a:solidFill>
            <a:ln w="12700">
              <a:solidFill>
                <a:srgbClr val="000000"/>
              </a:solidFill>
            </a:ln>
          </p:spPr>
          <p:txBody>
            <a:bodyPr/>
            <a:lstStyle/>
            <a:p>
              <a:endParaRPr lang="en-US"/>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3F3F7"/>
            </a:solidFill>
            <a:ln w="12700">
              <a:solidFill>
                <a:srgbClr val="000000"/>
              </a:solidFill>
            </a:ln>
          </p:spPr>
          <p:txBody>
            <a:bodyPr/>
            <a:lstStyle/>
            <a:p>
              <a:endParaRPr lang="en-US"/>
            </a:p>
          </p:txBody>
        </p:sp>
      </p:grpSp>
      <p:sp>
        <p:nvSpPr>
          <p:cNvPr id="6" name="TextBox 6"/>
          <p:cNvSpPr txBox="1"/>
          <p:nvPr/>
        </p:nvSpPr>
        <p:spPr>
          <a:xfrm>
            <a:off x="7850238" y="2882208"/>
            <a:ext cx="9445523" cy="1800520"/>
          </a:xfrm>
          <a:prstGeom prst="rect">
            <a:avLst/>
          </a:prstGeom>
        </p:spPr>
        <p:txBody>
          <a:bodyPr lIns="0" tIns="0" rIns="0" bIns="0" rtlCol="0" anchor="t">
            <a:spAutoFit/>
          </a:bodyPr>
          <a:lstStyle/>
          <a:p>
            <a:pPr algn="l">
              <a:lnSpc>
                <a:spcPts val="6937"/>
              </a:lnSpc>
            </a:pPr>
            <a:r>
              <a:rPr lang="en-US" sz="5562" b="1">
                <a:solidFill>
                  <a:srgbClr val="101014"/>
                </a:solidFill>
                <a:latin typeface="Playfair Display Bold"/>
                <a:ea typeface="Playfair Display Bold"/>
                <a:cs typeface="Playfair Display Bold"/>
                <a:sym typeface="Playfair Display Bold"/>
              </a:rPr>
              <a:t>Conclusion: A Transformative Experience</a:t>
            </a:r>
          </a:p>
        </p:txBody>
      </p:sp>
      <p:sp>
        <p:nvSpPr>
          <p:cNvPr id="7" name="TextBox 7"/>
          <p:cNvSpPr txBox="1"/>
          <p:nvPr/>
        </p:nvSpPr>
        <p:spPr>
          <a:xfrm>
            <a:off x="7850238" y="5022209"/>
            <a:ext cx="9445523" cy="2353866"/>
          </a:xfrm>
          <a:prstGeom prst="rect">
            <a:avLst/>
          </a:prstGeom>
        </p:spPr>
        <p:txBody>
          <a:bodyPr lIns="0" tIns="0" rIns="0" bIns="0" rtlCol="0" anchor="t">
            <a:spAutoFit/>
          </a:bodyPr>
          <a:lstStyle/>
          <a:p>
            <a:pPr algn="l">
              <a:lnSpc>
                <a:spcPts val="3562"/>
              </a:lnSpc>
            </a:pPr>
            <a:r>
              <a:rPr lang="en-US" sz="2187">
                <a:solidFill>
                  <a:srgbClr val="39393C"/>
                </a:solidFill>
                <a:latin typeface="Open Sans"/>
                <a:ea typeface="Open Sans"/>
                <a:cs typeface="Open Sans"/>
                <a:sym typeface="Open Sans"/>
              </a:rPr>
              <a:t>The internship was an invaluable bridge between academic theory and real-world application. It significantly enhanced my technical competence, refined my communication skills, and boosted my professional confidence. This experience has firmly prepared me for future challenges and roles within the dynamic IT industry.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C0C0E"/>
            </a:solidFill>
            <a:ln w="12700">
              <a:solidFill>
                <a:srgbClr val="000000"/>
              </a:solidFill>
            </a:ln>
          </p:spPr>
          <p:txBody>
            <a:bodyPr/>
            <a:lstStyle/>
            <a:p>
              <a:endParaRPr lang="en-US"/>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3F3F7"/>
            </a:solidFill>
            <a:ln w="12700">
              <a:solidFill>
                <a:srgbClr val="000000"/>
              </a:solidFill>
            </a:ln>
          </p:spPr>
          <p:txBody>
            <a:bodyPr/>
            <a:lstStyle/>
            <a:p>
              <a:endParaRPr lang="en-US"/>
            </a:p>
          </p:txBody>
        </p:sp>
      </p:grpSp>
      <p:sp>
        <p:nvSpPr>
          <p:cNvPr id="6" name="TextBox 6"/>
          <p:cNvSpPr txBox="1"/>
          <p:nvPr/>
        </p:nvSpPr>
        <p:spPr>
          <a:xfrm>
            <a:off x="2553595" y="574624"/>
            <a:ext cx="7815262" cy="606476"/>
          </a:xfrm>
          <a:prstGeom prst="rect">
            <a:avLst/>
          </a:prstGeom>
        </p:spPr>
        <p:txBody>
          <a:bodyPr lIns="0" tIns="0" rIns="0" bIns="0" rtlCol="0" anchor="t">
            <a:spAutoFit/>
          </a:bodyPr>
          <a:lstStyle/>
          <a:p>
            <a:pPr algn="l">
              <a:lnSpc>
                <a:spcPts val="4687"/>
              </a:lnSpc>
            </a:pPr>
            <a:r>
              <a:rPr lang="en-US" sz="3749" b="1">
                <a:solidFill>
                  <a:srgbClr val="101014"/>
                </a:solidFill>
                <a:latin typeface="Playfair Display Bold"/>
                <a:ea typeface="Playfair Display Bold"/>
                <a:cs typeface="Playfair Display Bold"/>
                <a:sym typeface="Playfair Display Bold"/>
              </a:rPr>
              <a:t>Future Plans: Building an IT Career</a:t>
            </a:r>
          </a:p>
        </p:txBody>
      </p:sp>
      <p:grpSp>
        <p:nvGrpSpPr>
          <p:cNvPr id="7" name="Group 7"/>
          <p:cNvGrpSpPr/>
          <p:nvPr/>
        </p:nvGrpSpPr>
        <p:grpSpPr>
          <a:xfrm>
            <a:off x="2416073" y="1374134"/>
            <a:ext cx="6632524" cy="8328717"/>
            <a:chOff x="0" y="0"/>
            <a:chExt cx="8843366" cy="11104956"/>
          </a:xfrm>
        </p:grpSpPr>
        <p:sp>
          <p:nvSpPr>
            <p:cNvPr id="8" name="Freeform 8"/>
            <p:cNvSpPr/>
            <p:nvPr/>
          </p:nvSpPr>
          <p:spPr>
            <a:xfrm>
              <a:off x="0" y="0"/>
              <a:ext cx="8843391" cy="11105007"/>
            </a:xfrm>
            <a:custGeom>
              <a:avLst/>
              <a:gdLst/>
              <a:ahLst/>
              <a:cxnLst/>
              <a:rect l="l" t="t" r="r" b="b"/>
              <a:pathLst>
                <a:path w="8843391" h="11105007">
                  <a:moveTo>
                    <a:pt x="0" y="38227"/>
                  </a:moveTo>
                  <a:cubicBezTo>
                    <a:pt x="0" y="17145"/>
                    <a:pt x="17145" y="0"/>
                    <a:pt x="38227" y="0"/>
                  </a:cubicBezTo>
                  <a:lnTo>
                    <a:pt x="8805164" y="0"/>
                  </a:lnTo>
                  <a:cubicBezTo>
                    <a:pt x="8826246" y="0"/>
                    <a:pt x="8843391" y="17145"/>
                    <a:pt x="8843391" y="38227"/>
                  </a:cubicBezTo>
                  <a:lnTo>
                    <a:pt x="8843391" y="11066780"/>
                  </a:lnTo>
                  <a:cubicBezTo>
                    <a:pt x="8843391" y="11087862"/>
                    <a:pt x="8826246" y="11105007"/>
                    <a:pt x="8805164" y="11105007"/>
                  </a:cubicBezTo>
                  <a:lnTo>
                    <a:pt x="38227" y="11105007"/>
                  </a:lnTo>
                  <a:cubicBezTo>
                    <a:pt x="17145" y="11105007"/>
                    <a:pt x="0" y="11087862"/>
                    <a:pt x="0" y="11066780"/>
                  </a:cubicBezTo>
                  <a:close/>
                </a:path>
              </a:pathLst>
            </a:custGeom>
            <a:solidFill>
              <a:srgbClr val="101014"/>
            </a:solidFill>
            <a:ln w="12700">
              <a:solidFill>
                <a:srgbClr val="000000"/>
              </a:solidFill>
            </a:ln>
          </p:spPr>
          <p:txBody>
            <a:bodyPr/>
            <a:lstStyle/>
            <a:p>
              <a:endParaRPr lang="en-US"/>
            </a:p>
          </p:txBody>
        </p:sp>
      </p:grpSp>
      <p:sp>
        <p:nvSpPr>
          <p:cNvPr id="9" name="TextBox 9"/>
          <p:cNvSpPr txBox="1"/>
          <p:nvPr/>
        </p:nvSpPr>
        <p:spPr>
          <a:xfrm>
            <a:off x="2607021" y="1493196"/>
            <a:ext cx="3358906" cy="307924"/>
          </a:xfrm>
          <a:prstGeom prst="rect">
            <a:avLst/>
          </a:prstGeom>
        </p:spPr>
        <p:txBody>
          <a:bodyPr lIns="0" tIns="0" rIns="0" bIns="0" rtlCol="0" anchor="t">
            <a:spAutoFit/>
          </a:bodyPr>
          <a:lstStyle/>
          <a:p>
            <a:pPr algn="l">
              <a:lnSpc>
                <a:spcPts val="2312"/>
              </a:lnSpc>
            </a:pPr>
            <a:r>
              <a:rPr lang="en-US" sz="1874" b="1">
                <a:solidFill>
                  <a:srgbClr val="FFFFFF"/>
                </a:solidFill>
                <a:latin typeface="Playfair Display Bold"/>
                <a:ea typeface="Playfair Display Bold"/>
                <a:cs typeface="Playfair Display Bold"/>
                <a:sym typeface="Playfair Display Bold"/>
              </a:rPr>
              <a:t>Continuous Skill Development</a:t>
            </a:r>
          </a:p>
        </p:txBody>
      </p:sp>
      <p:sp>
        <p:nvSpPr>
          <p:cNvPr id="10" name="TextBox 10"/>
          <p:cNvSpPr txBox="1"/>
          <p:nvPr/>
        </p:nvSpPr>
        <p:spPr>
          <a:xfrm>
            <a:off x="2607021" y="1910658"/>
            <a:ext cx="6250629" cy="786555"/>
          </a:xfrm>
          <a:prstGeom prst="rect">
            <a:avLst/>
          </a:prstGeom>
        </p:spPr>
        <p:txBody>
          <a:bodyPr lIns="0" tIns="0" rIns="0" bIns="0" rtlCol="0" anchor="t">
            <a:spAutoFit/>
          </a:bodyPr>
          <a:lstStyle/>
          <a:p>
            <a:pPr algn="l">
              <a:lnSpc>
                <a:spcPts val="2000"/>
              </a:lnSpc>
            </a:pPr>
            <a:r>
              <a:rPr lang="en-US" sz="1500">
                <a:solidFill>
                  <a:srgbClr val="FFFFFF"/>
                </a:solidFill>
                <a:latin typeface="Open Sans"/>
                <a:ea typeface="Open Sans"/>
                <a:cs typeface="Open Sans"/>
                <a:sym typeface="Open Sans"/>
              </a:rPr>
              <a:t>I am committed to advancing my expertise in networking, system security, and IT support through ongoing learning and professional certifications.</a:t>
            </a:r>
          </a:p>
        </p:txBody>
      </p:sp>
      <p:sp>
        <p:nvSpPr>
          <p:cNvPr id="11" name="TextBox 11"/>
          <p:cNvSpPr txBox="1"/>
          <p:nvPr/>
        </p:nvSpPr>
        <p:spPr>
          <a:xfrm>
            <a:off x="2607021" y="2793949"/>
            <a:ext cx="6250629" cy="530723"/>
          </a:xfrm>
          <a:prstGeom prst="rect">
            <a:avLst/>
          </a:prstGeom>
        </p:spPr>
        <p:txBody>
          <a:bodyPr lIns="0" tIns="0" rIns="0" bIns="0" rtlCol="0" anchor="t">
            <a:spAutoFit/>
          </a:bodyPr>
          <a:lstStyle/>
          <a:p>
            <a:pPr algn="l">
              <a:lnSpc>
                <a:spcPts val="2000"/>
              </a:lnSpc>
            </a:pPr>
            <a:r>
              <a:rPr lang="en-US" sz="1500">
                <a:solidFill>
                  <a:srgbClr val="FFFFFF"/>
                </a:solidFill>
                <a:latin typeface="Open Sans"/>
                <a:ea typeface="Open Sans"/>
                <a:cs typeface="Open Sans"/>
                <a:sym typeface="Open Sans"/>
              </a:rPr>
              <a:t>My goal is to obtain industry-recognized certifications like CompTIA Security+ and Cisco CCNA.</a:t>
            </a:r>
          </a:p>
        </p:txBody>
      </p:sp>
      <p:sp>
        <p:nvSpPr>
          <p:cNvPr id="12" name="TextBox 12"/>
          <p:cNvSpPr txBox="1"/>
          <p:nvPr/>
        </p:nvSpPr>
        <p:spPr>
          <a:xfrm>
            <a:off x="9386440" y="8011420"/>
            <a:ext cx="2627862" cy="307924"/>
          </a:xfrm>
          <a:prstGeom prst="rect">
            <a:avLst/>
          </a:prstGeom>
        </p:spPr>
        <p:txBody>
          <a:bodyPr lIns="0" tIns="0" rIns="0" bIns="0" rtlCol="0" anchor="t">
            <a:spAutoFit/>
          </a:bodyPr>
          <a:lstStyle/>
          <a:p>
            <a:pPr algn="l">
              <a:lnSpc>
                <a:spcPts val="2312"/>
              </a:lnSpc>
            </a:pPr>
            <a:r>
              <a:rPr lang="en-US" sz="1874" b="1">
                <a:solidFill>
                  <a:srgbClr val="101014"/>
                </a:solidFill>
                <a:latin typeface="Playfair Display Bold"/>
                <a:ea typeface="Playfair Display Bold"/>
                <a:cs typeface="Playfair Display Bold"/>
                <a:sym typeface="Playfair Display Bold"/>
              </a:rPr>
              <a:t>Career in Cybersecurity</a:t>
            </a:r>
          </a:p>
        </p:txBody>
      </p:sp>
      <p:sp>
        <p:nvSpPr>
          <p:cNvPr id="13" name="TextBox 13"/>
          <p:cNvSpPr txBox="1"/>
          <p:nvPr/>
        </p:nvSpPr>
        <p:spPr>
          <a:xfrm>
            <a:off x="9386440" y="8428882"/>
            <a:ext cx="6357490" cy="530723"/>
          </a:xfrm>
          <a:prstGeom prst="rect">
            <a:avLst/>
          </a:prstGeom>
        </p:spPr>
        <p:txBody>
          <a:bodyPr lIns="0" tIns="0" rIns="0" bIns="0" rtlCol="0" anchor="t">
            <a:spAutoFit/>
          </a:bodyPr>
          <a:lstStyle/>
          <a:p>
            <a:pPr algn="l">
              <a:lnSpc>
                <a:spcPts val="2000"/>
              </a:lnSpc>
            </a:pPr>
            <a:r>
              <a:rPr lang="en-US" sz="1500">
                <a:solidFill>
                  <a:srgbClr val="39393C"/>
                </a:solidFill>
                <a:latin typeface="Open Sans"/>
                <a:ea typeface="Open Sans"/>
                <a:cs typeface="Open Sans"/>
                <a:sym typeface="Open Sans"/>
              </a:rPr>
              <a:t>My long-term aspiration is to build a successful career in cybersecurity and information security, protecting critical digital assets.</a:t>
            </a:r>
          </a:p>
        </p:txBody>
      </p:sp>
      <p:sp>
        <p:nvSpPr>
          <p:cNvPr id="14" name="TextBox 14"/>
          <p:cNvSpPr txBox="1"/>
          <p:nvPr/>
        </p:nvSpPr>
        <p:spPr>
          <a:xfrm>
            <a:off x="9386440" y="9056341"/>
            <a:ext cx="6357490" cy="530723"/>
          </a:xfrm>
          <a:prstGeom prst="rect">
            <a:avLst/>
          </a:prstGeom>
        </p:spPr>
        <p:txBody>
          <a:bodyPr lIns="0" tIns="0" rIns="0" bIns="0" rtlCol="0" anchor="t">
            <a:spAutoFit/>
          </a:bodyPr>
          <a:lstStyle/>
          <a:p>
            <a:pPr algn="l">
              <a:lnSpc>
                <a:spcPts val="2000"/>
              </a:lnSpc>
            </a:pPr>
            <a:r>
              <a:rPr lang="en-US" sz="1500">
                <a:solidFill>
                  <a:srgbClr val="39393C"/>
                </a:solidFill>
                <a:latin typeface="Open Sans"/>
                <a:ea typeface="Open Sans"/>
                <a:cs typeface="Open Sans"/>
                <a:sym typeface="Open Sans"/>
              </a:rPr>
              <a:t>I will also focus on enhancing my communication, leadership, and advanced problem-solving abilities to thrive in a leadership role.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627</Words>
  <Application>Microsoft Office PowerPoint</Application>
  <PresentationFormat>Custom</PresentationFormat>
  <Paragraphs>99</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Playfair Display</vt:lpstr>
      <vt:lpstr>Open Sans</vt:lpstr>
      <vt:lpstr>Calibri</vt:lpstr>
      <vt:lpstr>Arial</vt:lpstr>
      <vt:lpstr>Playfair Display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Internship-Report-Summary.pptx</dc:title>
  <dc:creator>Tapendra Singh</dc:creator>
  <cp:lastModifiedBy>Tapendra Singh</cp:lastModifiedBy>
  <cp:revision>2</cp:revision>
  <dcterms:created xsi:type="dcterms:W3CDTF">2006-08-16T00:00:00Z</dcterms:created>
  <dcterms:modified xsi:type="dcterms:W3CDTF">2026-01-28T07:36:26Z</dcterms:modified>
  <dc:identifier>DAG_r6cXCpo</dc:identifier>
</cp:coreProperties>
</file>